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282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通过用例数</c:v>
          </c:tx>
          <c:spPr>
            <a:solidFill>
              <a:srgbClr val="004A98"/>
            </a:solidFill>
          </c:spPr>
          <c:invertIfNegative val="1"/>
          <c:dLbls>
            <c:delete val="1"/>
          </c:dLbls>
          <c:cat>
            <c:strLit>
              <c:ptCount val="3"/>
              <c:pt idx="0">
                <c:v>后端</c:v>
              </c:pt>
              <c:pt idx="1">
                <c:v>前端</c:v>
              </c:pt>
              <c:pt idx="2">
                <c:v>Agent</c:v>
              </c:pt>
            </c:strLit>
          </c:cat>
          <c:val>
            <c:numLit>
              <c:formatCode>General</c:formatCode>
              <c:ptCount val="3"/>
              <c:pt idx="0">
                <c:v>26</c:v>
              </c:pt>
              <c:pt idx="1">
                <c:v>20</c:v>
              </c:pt>
              <c:pt idx="2">
                <c:v>18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D55-4B55-AB6D-77FA1DA56A9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9D6E6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D6B82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各位老师好，我们小组汇报的是课题二：一体化监控平台开发。我们把系统命名为 AegisMonitor，目标是模拟企业运维中的主机监控场景：让真实电脑通过 Agent 接入，持续上报指标，后端保存并判断异常，前端展示趋势和告警处理闭环。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本次汇报按软件工程交付链路展开。先说明为什么需要监控平台和本项目的边界，再讲需求、架构、数据库和核心流程，随后说明</a:t>
            </a:r>
            <a:r>
              <a:rPr dirty="0"/>
              <a:t> </a:t>
            </a:r>
            <a:r>
              <a:rPr dirty="0" err="1"/>
              <a:t>Agent、后端、前端的实现，最后</a:t>
            </a:r>
            <a:r>
              <a:rPr lang="zh-CN" altLang="en-US" dirty="0"/>
              <a:t>展示</a:t>
            </a:r>
            <a:r>
              <a:rPr dirty="0" err="1"/>
              <a:t>测试结果和系统演示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这个课题解决的是运行状态不可见的问题。运维人员需要知道主机是否在线，CPU、内存、磁盘、网卡和 TCP 是否异常，服务组件是否还在运行，以及告警是否有人接手。我们的目标是在课程设计规模内，把这些零散状态变成可观察、可保存、可处理的数据。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我们把 MVP 范围控制在采集、存储、展示、处理四件事。当前已经实现 Agent 纳管、主机监控、历史趋势、服务发现、告警 ACK；并在后续完善中补充了磁盘和网卡指标、多时间范围和按日期查询、离线判断，以及 Agent 遇到后端短暂不可用时自动重试。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总体架构采用前后端分离加 Agent 主动上报。被监控主机运行 Python Agent，负责采集并上报；Spring Boot 后端负责注册认证、接收指标、入库和告警判断；MySQL 保存主机、指标、服务和告警数据；Vue 前端通过接口展示给运维人员。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部署上，本机作为中心监控端，运行 MySQL、后端和前端；其他同学电脑只需要修改 agent.yml，把 server_url 指向中心电脑的校园网 IP，再运行 Agent 即可接入。真实主机用于证明接入能力，模拟主机用于保证答辩时多节点场景稳定可展示。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数据库围绕 host_id 建模。agents 保存 Agent 身份，hosts 保存主机资产，host_metric_points 保存 CPU、内存、磁盘、网卡和 TCP 历史指标，service_instances 保存服务发现结果，alert_events 保存告警和 ACK 记录。这样主机、指标、服务、告警能稳定关联。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Agent 首次启动时使用注册 Token 向后端注册，后端返回 agentId、hostId 和 agentSecret，Agent 把这些身份写入本地状态文件。后续每轮上报都携带身份凭证，后端据此确认是哪台主机，避免重复接入和数据混淆。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告警不是简单弹窗，而是处理闭环。后端接收指标后按阈值判断，例如 CPU、内存和 TCP 异常会生成 OPEN 告警；同一主机同一规则已有 OPEN 告警时会去重；运维人员点击 ACK 后，系统保存确认人、时间和备注，表示问题已被接手。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Agent </a:t>
            </a:r>
            <a:r>
              <a:rPr dirty="0" err="1"/>
              <a:t>可以理解为运行在被监控主机上的探针。它读取配置、完成注册、保存身份、定时发送心跳，采集</a:t>
            </a:r>
            <a:r>
              <a:rPr dirty="0"/>
              <a:t> </a:t>
            </a:r>
            <a:r>
              <a:rPr dirty="0" err="1"/>
              <a:t>CPU、内存、磁盘、网卡、TCP</a:t>
            </a:r>
            <a:r>
              <a:rPr dirty="0"/>
              <a:t> </a:t>
            </a:r>
            <a:r>
              <a:rPr dirty="0" err="1"/>
              <a:t>和服务进程信息。最新版本还补了容错：如果后端重启或网络短暂断开，Agent</a:t>
            </a:r>
            <a:r>
              <a:rPr dirty="0"/>
              <a:t> </a:t>
            </a:r>
            <a:r>
              <a:rPr dirty="0" err="1"/>
              <a:t>不会直接退出，而是等待下一轮继续重试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后端是整个系统的业务中枢，不只是存数据。Controller 负责 HTTP API，Service 放注册、指标入库、告警判断、离线判断等业务规则，Repository 负责 MySQL 访问。这样的分层让代码职责清楚，也方便用内存仓库做自动化测试。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前端按照运维查看路径组织：先看主机列表，再进主机详情看实时快照和历史曲线，也可以查看服务组件和告警中心。主机详情现在支持 CPU、内存、磁盘、网卡 RX/TX、TCP 多类曲线，并支持 10 分钟到 24 小时以及按日期查询。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运行结果中可以看到真实主机和模拟主机并存。真实主机由</a:t>
            </a:r>
            <a:r>
              <a:rPr dirty="0"/>
              <a:t> Agent </a:t>
            </a:r>
            <a:r>
              <a:rPr dirty="0" err="1"/>
              <a:t>上报心跳和指标；如果主机关机或</a:t>
            </a:r>
            <a:r>
              <a:rPr dirty="0"/>
              <a:t> Agent </a:t>
            </a:r>
            <a:r>
              <a:rPr dirty="0" err="1"/>
              <a:t>停止，系统会根据最后心跳时间显示</a:t>
            </a:r>
            <a:r>
              <a:rPr dirty="0"/>
              <a:t> </a:t>
            </a:r>
            <a:r>
              <a:rPr dirty="0" err="1"/>
              <a:t>OFFLINE。进入详情页后，CPU、内存、磁盘、网卡、TCP</a:t>
            </a:r>
            <a:r>
              <a:rPr dirty="0"/>
              <a:t> </a:t>
            </a:r>
            <a:r>
              <a:rPr dirty="0" err="1"/>
              <a:t>和曲线都来自后端接口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服务组件页展示 Agent 从进程、命令行和监听端口识别出的组件，例如 MySQL、Nginx 或 Spring Boot，并显示 PID、端口和进程资源信息。告警中心展示 OPEN 告警以及 ACK 后的记录，体现发现异常、确认接手、留下处理痕迹的运维流程。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测试方面，我们没有只依赖手工演示，而是为 Agent、后端和前端都写了自动化测试。当前合计 69 项通过，覆盖配置、注册、心跳、指标入库、磁盘网卡字段、历史范围、服务发现、告警 ACK、前端状态和静默刷新等关键路径。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软件工程过程上，我们从 PRD、需求规格、概要设计、接口和数据模型开始推进，再进入 TDD 实现和 GitHub 协作。队员任务通过 Issues 拆分，feature 分支提交 Pull Request，Review 后合并，整个过程有文档和提交记录可追溯。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当前版本完成的是课程设计核心闭环：真实 Agent 接入、指标历史、服务发现、告警生成与 ACK、离线判断、Agent 重试、MySQL 持久化以及测试记录。后续如果向企业级演进，可以继续补登录权限、告警规则编辑、通知渠道、时序数据库和 Docker 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最后总结一下，AegisMonitor</a:t>
            </a:r>
            <a:r>
              <a:rPr dirty="0"/>
              <a:t> 的价值在于把主机运行状态从看不见变成可观察、可保存、可处理的数据。它完成了真实接入、监控展示、离线识别和告警确认闭环，并用自动化测试和 GitHub </a:t>
            </a:r>
            <a:r>
              <a:rPr dirty="0" err="1"/>
              <a:t>协作记录证明工程过程。下面我进入系统演示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239C9937-0548-4716-912F-F5E86CCC7A2C}"/>
              </a:ext>
            </a:extLst>
          </p:cNvPr>
          <p:cNvSpPr>
            <a:spLocks noGrp="1"/>
          </p:cNvSpPr>
          <p:nvPr/>
        </p:nvSpPr>
        <p:spPr>
          <a:xfrm>
            <a:off x="0" y="-19050"/>
            <a:ext cx="12192000" cy="6858000"/>
          </a:xfrm>
          <a:prstGeom prst="rect">
            <a:avLst/>
          </a:prstGeom>
          <a:solidFill>
            <a:srgbClr val="F7FAFE"/>
          </a:solidFill>
          <a:ln w="0">
            <a:solidFill>
              <a:srgbClr val="F7F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82047AD-5E8E-462C-9FF6-EF7652AA82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004A98"/>
          </a:solidFill>
          <a:ln w="0">
            <a:solidFill>
              <a:srgbClr val="004A98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07B257-A3AC-4726-BC59-E8BDFE3BDFB1}"/>
              </a:ext>
            </a:extLst>
          </p:cNvPr>
          <p:cNvSpPr>
            <a:spLocks noGrp="1"/>
          </p:cNvSpPr>
          <p:nvPr/>
        </p:nvSpPr>
        <p:spPr>
          <a:xfrm>
            <a:off x="704850" y="26670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软件工程课程设计</a:t>
            </a:r>
            <a:endParaRPr sz="16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B737736-3637-4D39-962D-78BC824C04F5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课题二：一体化监控平台开发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B737DEC-6364-4687-9C7F-06545367AB86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7239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4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AegisMonitor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55F418F-C69D-4DB5-8474-F09A5F02B26E}"/>
              </a:ext>
            </a:extLst>
          </p:cNvPr>
          <p:cNvSpPr>
            <a:spLocks noGrp="1"/>
          </p:cNvSpPr>
          <p:nvPr/>
        </p:nvSpPr>
        <p:spPr>
          <a:xfrm>
            <a:off x="723900" y="2990850"/>
            <a:ext cx="781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真实主机接入、指标采集、服务发现与告警 ACK 的课程设计系统</a:t>
            </a: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D439E643-790B-41E8-942C-FF27344D5885}"/>
              </a:ext>
            </a:extLst>
          </p:cNvPr>
          <p:cNvSpPr>
            <a:spLocks noGrp="1"/>
          </p:cNvSpPr>
          <p:nvPr/>
        </p:nvSpPr>
        <p:spPr>
          <a:xfrm>
            <a:off x="723900" y="3695700"/>
            <a:ext cx="5524500" cy="0"/>
          </a:xfrm>
          <a:prstGeom prst="line">
            <a:avLst/>
          </a:prstGeom>
          <a:noFill/>
          <a:ln w="38100">
            <a:solidFill>
              <a:srgbClr val="C89B3C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DFB0F4C-ADDD-4650-B383-A23371D0F4DE}"/>
              </a:ext>
            </a:extLst>
          </p:cNvPr>
          <p:cNvSpPr>
            <a:spLocks noGrp="1"/>
          </p:cNvSpPr>
          <p:nvPr/>
        </p:nvSpPr>
        <p:spPr>
          <a:xfrm>
            <a:off x="742950" y="4171950"/>
            <a:ext cx="5334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35000"/>
              </a:lnSpc>
              <a:buNone/>
              <a:defRPr sz="15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汇报人</a:t>
            </a:r>
            <a:r>
              <a:rPr sz="1575" b="0" dirty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575" b="0" dirty="0" err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小组成员：罗皓天</a:t>
            </a:r>
            <a:r>
              <a:rPr sz="1575" b="0" dirty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75" b="0" dirty="0" err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王锦铨</a:t>
            </a:r>
            <a:r>
              <a:rPr sz="1575" b="0" dirty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75" b="0" dirty="0" err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刘诗琪</a:t>
            </a:r>
            <a:r>
              <a:rPr sz="1575" b="0" dirty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75" b="0" dirty="0" err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赖芸</a:t>
            </a:r>
            <a:r>
              <a:rPr sz="1575" b="0" dirty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75" b="0" dirty="0" err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余润东</a:t>
            </a:r>
            <a:endParaRPr sz="1575" b="0" dirty="0">
              <a:solidFill>
                <a:srgbClr val="172033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指导课程</a:t>
            </a:r>
            <a:r>
              <a:rPr sz="1575" b="0" dirty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：《</a:t>
            </a:r>
            <a:r>
              <a:rPr sz="1575" b="0" dirty="0" err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软件工程》课程设计</a:t>
            </a:r>
            <a:endParaRPr sz="1575" b="0" dirty="0">
              <a:solidFill>
                <a:srgbClr val="172033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答辩时间：2026 年 6</a:t>
            </a:r>
            <a:r>
              <a:rPr sz="1575" dirty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 月 27 日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31C86A1-1277-4762-991C-A8DC8D9233D8}"/>
              </a:ext>
            </a:extLst>
          </p:cNvPr>
          <p:cNvSpPr>
            <a:spLocks noGrp="1"/>
          </p:cNvSpPr>
          <p:nvPr/>
        </p:nvSpPr>
        <p:spPr>
          <a:xfrm>
            <a:off x="7734299" y="4171949"/>
            <a:ext cx="3089487" cy="1443143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9D6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49ADF24-5961-41E6-921E-7ACC8F1107F4}"/>
              </a:ext>
            </a:extLst>
          </p:cNvPr>
          <p:cNvSpPr>
            <a:spLocks noGrp="1"/>
          </p:cNvSpPr>
          <p:nvPr/>
        </p:nvSpPr>
        <p:spPr>
          <a:xfrm>
            <a:off x="7734300" y="4171950"/>
            <a:ext cx="66676" cy="1443142"/>
          </a:xfrm>
          <a:prstGeom prst="rect">
            <a:avLst/>
          </a:prstGeom>
          <a:solidFill>
            <a:srgbClr val="004A98"/>
          </a:solidFill>
          <a:ln w="0">
            <a:solidFill>
              <a:srgbClr val="004A9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BC9948-C639-45F6-8CF0-EEAFF5B4E15C}"/>
              </a:ext>
            </a:extLst>
          </p:cNvPr>
          <p:cNvSpPr>
            <a:spLocks noGrp="1"/>
          </p:cNvSpPr>
          <p:nvPr/>
        </p:nvSpPr>
        <p:spPr>
          <a:xfrm>
            <a:off x="7943850" y="4324350"/>
            <a:ext cx="2628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核心闭环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8625FB7-959D-47C7-AC15-B838958AE433}"/>
              </a:ext>
            </a:extLst>
          </p:cNvPr>
          <p:cNvSpPr>
            <a:spLocks noGrp="1"/>
          </p:cNvSpPr>
          <p:nvPr/>
        </p:nvSpPr>
        <p:spPr>
          <a:xfrm>
            <a:off x="7962900" y="4705350"/>
            <a:ext cx="2590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0" rIns="28575" bIns="0"/>
          <a:lstStyle/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Agent 主动上报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MySQL 持久化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Vue 统一展示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告警确认记录</a:t>
            </a:r>
          </a:p>
        </p:txBody>
      </p:sp>
      <p:pic>
        <p:nvPicPr>
          <p:cNvPr id="30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557" y="1504950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23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8AAFC998-C978-47C4-87E6-04ED5B4A5735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软件工程课程设计</a:t>
            </a:r>
            <a:endParaRPr sz="1125" b="1" dirty="0">
              <a:solidFill>
                <a:srgbClr val="004A9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E879C8D-E489-4325-B6D9-61A6DA5C559C}"/>
              </a:ext>
            </a:extLst>
          </p:cNvPr>
          <p:cNvSpPr>
            <a:spLocks noGrp="1"/>
          </p:cNvSpPr>
          <p:nvPr/>
        </p:nvSpPr>
        <p:spPr>
          <a:xfrm>
            <a:off x="11049000" y="22860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64BD72B4-9B5E-457F-84F8-3CB0C6A10A06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1087100" cy="0"/>
          </a:xfrm>
          <a:prstGeom prst="line">
            <a:avLst/>
          </a:prstGeom>
          <a:noFill/>
          <a:ln w="11430">
            <a:solidFill>
              <a:srgbClr val="D7E2E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9721FD6-2D8D-4B0F-8FFA-1A549CAF3CF1}"/>
              </a:ext>
            </a:extLst>
          </p:cNvPr>
          <p:cNvSpPr>
            <a:spLocks noGrp="1"/>
          </p:cNvSpPr>
          <p:nvPr/>
        </p:nvSpPr>
        <p:spPr>
          <a:xfrm>
            <a:off x="552450" y="762000"/>
            <a:ext cx="809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DE1B35-F6A8-461E-B4F5-772EBD12510B}"/>
              </a:ext>
            </a:extLst>
          </p:cNvPr>
          <p:cNvSpPr>
            <a:spLocks noGrp="1"/>
          </p:cNvSpPr>
          <p:nvPr/>
        </p:nvSpPr>
        <p:spPr>
          <a:xfrm>
            <a:off x="571500" y="1200150"/>
            <a:ext cx="828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本次答辩按照软件工程交付链路展开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FBB634-55EA-4026-8BD4-8697802F45A7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AegisMonitor 一体化监控平台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83CB9B-03A1-4044-B45F-6BF207EE0F77}"/>
              </a:ext>
            </a:extLst>
          </p:cNvPr>
          <p:cNvSpPr>
            <a:spLocks noGrp="1"/>
          </p:cNvSpPr>
          <p:nvPr/>
        </p:nvSpPr>
        <p:spPr>
          <a:xfrm>
            <a:off x="933450" y="1657350"/>
            <a:ext cx="609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ctr">
              <a:lnSpc>
                <a:spcPct val="112000"/>
              </a:lnSpc>
              <a:buNone/>
              <a:defRPr sz="225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DB71251D-8F37-428A-BA39-320240F33F75}"/>
              </a:ext>
            </a:extLst>
          </p:cNvPr>
          <p:cNvSpPr>
            <a:spLocks noGrp="1"/>
          </p:cNvSpPr>
          <p:nvPr/>
        </p:nvSpPr>
        <p:spPr>
          <a:xfrm>
            <a:off x="1695450" y="1866900"/>
            <a:ext cx="609600" cy="0"/>
          </a:xfrm>
          <a:prstGeom prst="line">
            <a:avLst/>
          </a:prstGeom>
          <a:noFill/>
          <a:ln w="19050">
            <a:solidFill>
              <a:srgbClr val="C89B3C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1EEE22-ED87-49C0-95F6-A4EAF3AA4836}"/>
              </a:ext>
            </a:extLst>
          </p:cNvPr>
          <p:cNvSpPr>
            <a:spLocks noGrp="1"/>
          </p:cNvSpPr>
          <p:nvPr/>
        </p:nvSpPr>
        <p:spPr>
          <a:xfrm>
            <a:off x="2552700" y="16383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课题理解与目标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6DD587-500A-4FAB-A584-9F0B91CF81F1}"/>
              </a:ext>
            </a:extLst>
          </p:cNvPr>
          <p:cNvSpPr>
            <a:spLocks noGrp="1"/>
          </p:cNvSpPr>
          <p:nvPr/>
        </p:nvSpPr>
        <p:spPr>
          <a:xfrm>
            <a:off x="5886450" y="167640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为什么做监控平台，课程设计范围如何确定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2CDDC3E-14A7-4BA6-9177-CFCEE88A3B12}"/>
              </a:ext>
            </a:extLst>
          </p:cNvPr>
          <p:cNvSpPr>
            <a:spLocks noGrp="1"/>
          </p:cNvSpPr>
          <p:nvPr/>
        </p:nvSpPr>
        <p:spPr>
          <a:xfrm>
            <a:off x="933450" y="2438400"/>
            <a:ext cx="609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ctr">
              <a:lnSpc>
                <a:spcPct val="112000"/>
              </a:lnSpc>
              <a:buNone/>
              <a:defRPr sz="225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950BE57E-B7DA-4834-A6B6-5A0C707A699B}"/>
              </a:ext>
            </a:extLst>
          </p:cNvPr>
          <p:cNvSpPr>
            <a:spLocks noGrp="1"/>
          </p:cNvSpPr>
          <p:nvPr/>
        </p:nvSpPr>
        <p:spPr>
          <a:xfrm>
            <a:off x="1695450" y="2647950"/>
            <a:ext cx="609600" cy="0"/>
          </a:xfrm>
          <a:prstGeom prst="line">
            <a:avLst/>
          </a:prstGeom>
          <a:noFill/>
          <a:ln w="19050">
            <a:solidFill>
              <a:srgbClr val="C89B3C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03333C4-F664-4672-91A4-B152A80F8619}"/>
              </a:ext>
            </a:extLst>
          </p:cNvPr>
          <p:cNvSpPr>
            <a:spLocks noGrp="1"/>
          </p:cNvSpPr>
          <p:nvPr/>
        </p:nvSpPr>
        <p:spPr>
          <a:xfrm>
            <a:off x="2552700" y="24193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需求分析与 MVP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FE78AFE-9F77-4219-8DAD-84C77A1CB1F8}"/>
              </a:ext>
            </a:extLst>
          </p:cNvPr>
          <p:cNvSpPr>
            <a:spLocks noGrp="1"/>
          </p:cNvSpPr>
          <p:nvPr/>
        </p:nvSpPr>
        <p:spPr>
          <a:xfrm>
            <a:off x="5886450" y="245745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核心功能、用户角色、验收边界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21E7DCF-DB95-45A2-9F4A-82CD3B4C38C2}"/>
              </a:ext>
            </a:extLst>
          </p:cNvPr>
          <p:cNvSpPr>
            <a:spLocks noGrp="1"/>
          </p:cNvSpPr>
          <p:nvPr/>
        </p:nvSpPr>
        <p:spPr>
          <a:xfrm>
            <a:off x="933450" y="3219450"/>
            <a:ext cx="609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ctr">
              <a:lnSpc>
                <a:spcPct val="112000"/>
              </a:lnSpc>
              <a:buNone/>
              <a:defRPr sz="225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5A864FEB-3D2C-4705-B92E-9602F6BF5FF5}"/>
              </a:ext>
            </a:extLst>
          </p:cNvPr>
          <p:cNvSpPr>
            <a:spLocks noGrp="1"/>
          </p:cNvSpPr>
          <p:nvPr/>
        </p:nvSpPr>
        <p:spPr>
          <a:xfrm>
            <a:off x="1695450" y="3429000"/>
            <a:ext cx="609600" cy="0"/>
          </a:xfrm>
          <a:prstGeom prst="line">
            <a:avLst/>
          </a:prstGeom>
          <a:noFill/>
          <a:ln w="19050">
            <a:solidFill>
              <a:srgbClr val="C89B3C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482D4EA-666B-4EA1-B410-BE344196D3A5}"/>
              </a:ext>
            </a:extLst>
          </p:cNvPr>
          <p:cNvSpPr>
            <a:spLocks noGrp="1"/>
          </p:cNvSpPr>
          <p:nvPr/>
        </p:nvSpPr>
        <p:spPr>
          <a:xfrm>
            <a:off x="2552700" y="32004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A31478C-1FFA-40D7-9433-EFC23AE7D480}"/>
              </a:ext>
            </a:extLst>
          </p:cNvPr>
          <p:cNvSpPr>
            <a:spLocks noGrp="1"/>
          </p:cNvSpPr>
          <p:nvPr/>
        </p:nvSpPr>
        <p:spPr>
          <a:xfrm>
            <a:off x="5886450" y="323850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总体架构、部署架构、数据库 ER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3C0183C-E81E-4128-8F98-2C4D52857451}"/>
              </a:ext>
            </a:extLst>
          </p:cNvPr>
          <p:cNvSpPr>
            <a:spLocks noGrp="1"/>
          </p:cNvSpPr>
          <p:nvPr/>
        </p:nvSpPr>
        <p:spPr>
          <a:xfrm>
            <a:off x="933450" y="4000500"/>
            <a:ext cx="609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ctr">
              <a:lnSpc>
                <a:spcPct val="112000"/>
              </a:lnSpc>
              <a:buNone/>
              <a:defRPr sz="225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79F912C9-9444-4227-8FB9-F08689E0693A}"/>
              </a:ext>
            </a:extLst>
          </p:cNvPr>
          <p:cNvSpPr>
            <a:spLocks noGrp="1"/>
          </p:cNvSpPr>
          <p:nvPr/>
        </p:nvSpPr>
        <p:spPr>
          <a:xfrm>
            <a:off x="1695450" y="4210050"/>
            <a:ext cx="609600" cy="0"/>
          </a:xfrm>
          <a:prstGeom prst="line">
            <a:avLst/>
          </a:prstGeom>
          <a:noFill/>
          <a:ln w="19050">
            <a:solidFill>
              <a:srgbClr val="C89B3C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5298460-9108-4774-80F9-F01C839C53FA}"/>
              </a:ext>
            </a:extLst>
          </p:cNvPr>
          <p:cNvSpPr>
            <a:spLocks noGrp="1"/>
          </p:cNvSpPr>
          <p:nvPr/>
        </p:nvSpPr>
        <p:spPr>
          <a:xfrm>
            <a:off x="2552700" y="39814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核心实现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A6EB2AA-A9EF-4164-956D-93405ABC1A73}"/>
              </a:ext>
            </a:extLst>
          </p:cNvPr>
          <p:cNvSpPr>
            <a:spLocks noGrp="1"/>
          </p:cNvSpPr>
          <p:nvPr/>
        </p:nvSpPr>
        <p:spPr>
          <a:xfrm>
            <a:off x="5886450" y="401955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Agent、后端、前端、告警闭环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FB0B1B5-BAF4-4B27-9708-2C65ABFD797E}"/>
              </a:ext>
            </a:extLst>
          </p:cNvPr>
          <p:cNvSpPr>
            <a:spLocks noGrp="1"/>
          </p:cNvSpPr>
          <p:nvPr/>
        </p:nvSpPr>
        <p:spPr>
          <a:xfrm>
            <a:off x="933450" y="4781550"/>
            <a:ext cx="609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ctr">
              <a:lnSpc>
                <a:spcPct val="112000"/>
              </a:lnSpc>
              <a:buNone/>
              <a:defRPr sz="225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10B36FFC-EC96-41D9-8CF2-ABBB40FE326A}"/>
              </a:ext>
            </a:extLst>
          </p:cNvPr>
          <p:cNvSpPr>
            <a:spLocks noGrp="1"/>
          </p:cNvSpPr>
          <p:nvPr/>
        </p:nvSpPr>
        <p:spPr>
          <a:xfrm>
            <a:off x="1695450" y="4991100"/>
            <a:ext cx="609600" cy="0"/>
          </a:xfrm>
          <a:prstGeom prst="line">
            <a:avLst/>
          </a:prstGeom>
          <a:noFill/>
          <a:ln w="19050">
            <a:solidFill>
              <a:srgbClr val="C89B3C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35BFBF5-042E-4D75-95BE-F179964F8B6D}"/>
              </a:ext>
            </a:extLst>
          </p:cNvPr>
          <p:cNvSpPr>
            <a:spLocks noGrp="1"/>
          </p:cNvSpPr>
          <p:nvPr/>
        </p:nvSpPr>
        <p:spPr>
          <a:xfrm>
            <a:off x="2552700" y="47625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测试验收与总结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BD7DC74-051E-453E-A3B3-148AD0627DF3}"/>
              </a:ext>
            </a:extLst>
          </p:cNvPr>
          <p:cNvSpPr>
            <a:spLocks noGrp="1"/>
          </p:cNvSpPr>
          <p:nvPr/>
        </p:nvSpPr>
        <p:spPr>
          <a:xfrm>
            <a:off x="5886450" y="480060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测试结果、团队分工、扩展方向</a:t>
            </a:r>
          </a:p>
        </p:txBody>
      </p:sp>
    </p:spTree>
    <p:extLst>
      <p:ext uri="{BB962C8B-B14F-4D97-AF65-F5344CB8AC3E}">
        <p14:creationId xmlns:p14="http://schemas.microsoft.com/office/powerpoint/2010/main" val="1911424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37F5FE6B-E2E8-4B7C-A334-560C82ECC170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软件工程课程设计</a:t>
            </a:r>
            <a:endParaRPr sz="1125" b="1" dirty="0">
              <a:solidFill>
                <a:srgbClr val="004A9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44E0CE-6E1D-4ADE-AD85-89FBE9513F2D}"/>
              </a:ext>
            </a:extLst>
          </p:cNvPr>
          <p:cNvSpPr>
            <a:spLocks noGrp="1"/>
          </p:cNvSpPr>
          <p:nvPr/>
        </p:nvSpPr>
        <p:spPr>
          <a:xfrm>
            <a:off x="11049000" y="22860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245E65F8-D5D3-4E37-9942-710BE0891762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1087100" cy="0"/>
          </a:xfrm>
          <a:prstGeom prst="line">
            <a:avLst/>
          </a:prstGeom>
          <a:noFill/>
          <a:ln w="11430">
            <a:solidFill>
              <a:srgbClr val="D7E2E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3B504FA-B3AA-484C-BD39-E74742779BF2}"/>
              </a:ext>
            </a:extLst>
          </p:cNvPr>
          <p:cNvSpPr>
            <a:spLocks noGrp="1"/>
          </p:cNvSpPr>
          <p:nvPr/>
        </p:nvSpPr>
        <p:spPr>
          <a:xfrm>
            <a:off x="552450" y="762000"/>
            <a:ext cx="809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课题理解与建设目标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20232F-C6AB-465D-9B4E-41F01291803B}"/>
              </a:ext>
            </a:extLst>
          </p:cNvPr>
          <p:cNvSpPr>
            <a:spLocks noGrp="1"/>
          </p:cNvSpPr>
          <p:nvPr/>
        </p:nvSpPr>
        <p:spPr>
          <a:xfrm>
            <a:off x="571500" y="1200150"/>
            <a:ext cx="828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把分散的主机运行状态转化为可观察、可处理的数据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9DB7A07-135D-4D04-9C09-6AD3350187D9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AegisMonitor 一体化监控平台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EEDE7B1-CA17-4C36-BF04-CDB0A19ACD12}"/>
              </a:ext>
            </a:extLst>
          </p:cNvPr>
          <p:cNvSpPr>
            <a:spLocks noGrp="1"/>
          </p:cNvSpPr>
          <p:nvPr/>
        </p:nvSpPr>
        <p:spPr>
          <a:xfrm>
            <a:off x="666750" y="1600200"/>
            <a:ext cx="33337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9D6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1908D9-2D8E-4326-8A06-F06C2EC3B6C3}"/>
              </a:ext>
            </a:extLst>
          </p:cNvPr>
          <p:cNvSpPr>
            <a:spLocks noGrp="1"/>
          </p:cNvSpPr>
          <p:nvPr/>
        </p:nvSpPr>
        <p:spPr>
          <a:xfrm>
            <a:off x="666750" y="1600200"/>
            <a:ext cx="66675" cy="3143250"/>
          </a:xfrm>
          <a:prstGeom prst="rect">
            <a:avLst/>
          </a:prstGeom>
          <a:solidFill>
            <a:srgbClr val="B3262E"/>
          </a:solidFill>
          <a:ln w="0">
            <a:solidFill>
              <a:srgbClr val="B3262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DBAE526-526A-4626-BF82-7873EB52C02B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2914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监控平台要解决的问题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EB238FB-D03B-41C9-BB79-A78010A53809}"/>
              </a:ext>
            </a:extLst>
          </p:cNvPr>
          <p:cNvSpPr>
            <a:spLocks noGrp="1"/>
          </p:cNvSpPr>
          <p:nvPr/>
        </p:nvSpPr>
        <p:spPr>
          <a:xfrm>
            <a:off x="895350" y="2133600"/>
            <a:ext cx="2876550" cy="2514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0" rIns="28575" bIns="0"/>
          <a:lstStyle/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主机是否在线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CPU / 内存是否异常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服务组件是否运行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告警是否有人确认处理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6EF4A37-6AEA-4880-AA38-D3D215A8439F}"/>
              </a:ext>
            </a:extLst>
          </p:cNvPr>
          <p:cNvSpPr>
            <a:spLocks noGrp="1"/>
          </p:cNvSpPr>
          <p:nvPr/>
        </p:nvSpPr>
        <p:spPr>
          <a:xfrm>
            <a:off x="4429125" y="1600200"/>
            <a:ext cx="33337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9D6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6C8058C-987C-4877-8896-573FFCACBF91}"/>
              </a:ext>
            </a:extLst>
          </p:cNvPr>
          <p:cNvSpPr>
            <a:spLocks noGrp="1"/>
          </p:cNvSpPr>
          <p:nvPr/>
        </p:nvSpPr>
        <p:spPr>
          <a:xfrm>
            <a:off x="4429125" y="1600200"/>
            <a:ext cx="66675" cy="3143250"/>
          </a:xfrm>
          <a:prstGeom prst="rect">
            <a:avLst/>
          </a:prstGeom>
          <a:solidFill>
            <a:srgbClr val="004A98"/>
          </a:solidFill>
          <a:ln w="0">
            <a:solidFill>
              <a:srgbClr val="004A9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69550EE-A761-4181-BD5E-A142B12820D0}"/>
              </a:ext>
            </a:extLst>
          </p:cNvPr>
          <p:cNvSpPr>
            <a:spLocks noGrp="1"/>
          </p:cNvSpPr>
          <p:nvPr/>
        </p:nvSpPr>
        <p:spPr>
          <a:xfrm>
            <a:off x="4638675" y="1752600"/>
            <a:ext cx="2914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本项目的实现目标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30EE7CF-8569-40E3-8CC1-1ED1091D917C}"/>
              </a:ext>
            </a:extLst>
          </p:cNvPr>
          <p:cNvSpPr>
            <a:spLocks noGrp="1"/>
          </p:cNvSpPr>
          <p:nvPr/>
        </p:nvSpPr>
        <p:spPr>
          <a:xfrm>
            <a:off x="4657725" y="2133600"/>
            <a:ext cx="2876550" cy="2514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0" rIns="28575" bIns="0"/>
          <a:lstStyle/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真实 Windows Agent 接入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指标与服务数据上报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MySQL 保存运行数据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前端展示趋势与告警闭环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65F18A2-97E6-40D6-9572-87DAF4C5D3FE}"/>
              </a:ext>
            </a:extLst>
          </p:cNvPr>
          <p:cNvSpPr>
            <a:spLocks noGrp="1"/>
          </p:cNvSpPr>
          <p:nvPr/>
        </p:nvSpPr>
        <p:spPr>
          <a:xfrm>
            <a:off x="8191500" y="1600200"/>
            <a:ext cx="33337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9D6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A9510BB-B0EA-49C6-BCCB-40B2BA4F9F78}"/>
              </a:ext>
            </a:extLst>
          </p:cNvPr>
          <p:cNvSpPr>
            <a:spLocks noGrp="1"/>
          </p:cNvSpPr>
          <p:nvPr/>
        </p:nvSpPr>
        <p:spPr>
          <a:xfrm>
            <a:off x="8191500" y="1600200"/>
            <a:ext cx="66675" cy="3143250"/>
          </a:xfrm>
          <a:prstGeom prst="rect">
            <a:avLst/>
          </a:prstGeom>
          <a:solidFill>
            <a:srgbClr val="C89B3C"/>
          </a:solidFill>
          <a:ln w="0">
            <a:solidFill>
              <a:srgbClr val="C89B3C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E032590-00AF-4777-A540-CF8962B041B0}"/>
              </a:ext>
            </a:extLst>
          </p:cNvPr>
          <p:cNvSpPr>
            <a:spLocks noGrp="1"/>
          </p:cNvSpPr>
          <p:nvPr/>
        </p:nvSpPr>
        <p:spPr>
          <a:xfrm>
            <a:off x="8401050" y="1752600"/>
            <a:ext cx="2914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课程设计边界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65F692F-77AD-4BAC-91CF-8E50B8F16E93}"/>
              </a:ext>
            </a:extLst>
          </p:cNvPr>
          <p:cNvSpPr>
            <a:spLocks noGrp="1"/>
          </p:cNvSpPr>
          <p:nvPr/>
        </p:nvSpPr>
        <p:spPr>
          <a:xfrm>
            <a:off x="8420100" y="2133600"/>
            <a:ext cx="2876550" cy="2514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0" rIns="28575" bIns="0"/>
          <a:lstStyle/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5 人小组、少量主机演示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真实数据和 Demo 数据并存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优先保证主链路稳定可讲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企业级能力作为扩展方向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8603CF4-B00B-409A-9272-6B5F4583BE63}"/>
              </a:ext>
            </a:extLst>
          </p:cNvPr>
          <p:cNvSpPr>
            <a:spLocks noGrp="1"/>
          </p:cNvSpPr>
          <p:nvPr/>
        </p:nvSpPr>
        <p:spPr>
          <a:xfrm>
            <a:off x="1104900" y="5295900"/>
            <a:ext cx="9982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ctr">
              <a:lnSpc>
                <a:spcPct val="112000"/>
              </a:lnSpc>
              <a:buNone/>
              <a:defRPr sz="195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最终交付重点：能运行、能测试、能展示、能说明软件工程过程。</a:t>
            </a:r>
          </a:p>
        </p:txBody>
      </p:sp>
    </p:spTree>
    <p:extLst>
      <p:ext uri="{BB962C8B-B14F-4D97-AF65-F5344CB8AC3E}">
        <p14:creationId xmlns:p14="http://schemas.microsoft.com/office/powerpoint/2010/main" val="93356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BCCB35D9-A8C0-4904-AD27-B64346E5795F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软件工程课程设计</a:t>
            </a:r>
            <a:endParaRPr sz="1125" b="1" dirty="0">
              <a:solidFill>
                <a:srgbClr val="004A9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90D9A5-FD6E-40CA-8CFE-30A2A24AABCA}"/>
              </a:ext>
            </a:extLst>
          </p:cNvPr>
          <p:cNvSpPr>
            <a:spLocks noGrp="1"/>
          </p:cNvSpPr>
          <p:nvPr/>
        </p:nvSpPr>
        <p:spPr>
          <a:xfrm>
            <a:off x="11049000" y="22860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4D2627E9-29E5-4F96-8CBE-5208BB78B948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1087100" cy="0"/>
          </a:xfrm>
          <a:prstGeom prst="line">
            <a:avLst/>
          </a:prstGeom>
          <a:noFill/>
          <a:ln w="11430">
            <a:solidFill>
              <a:srgbClr val="D7E2E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08A921-3A84-4069-9C36-7F2911687C8C}"/>
              </a:ext>
            </a:extLst>
          </p:cNvPr>
          <p:cNvSpPr>
            <a:spLocks noGrp="1"/>
          </p:cNvSpPr>
          <p:nvPr/>
        </p:nvSpPr>
        <p:spPr>
          <a:xfrm>
            <a:off x="552450" y="762000"/>
            <a:ext cx="809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需求分析与 MVP 范围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E2A0F7-DEC7-4985-9081-19C849C5A3D7}"/>
              </a:ext>
            </a:extLst>
          </p:cNvPr>
          <p:cNvSpPr>
            <a:spLocks noGrp="1"/>
          </p:cNvSpPr>
          <p:nvPr/>
        </p:nvSpPr>
        <p:spPr>
          <a:xfrm>
            <a:off x="571500" y="1200150"/>
            <a:ext cx="828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围绕‘采集-存储-展示-处理’确定优先级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A28B5A-46BC-4DBF-BEF9-73B945A04233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AegisMonitor 一体化监控平台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8BFD84-480C-44CB-A42C-8C5DEEC841D1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0820400" cy="400050"/>
          </a:xfrm>
          <a:prstGeom prst="rect">
            <a:avLst/>
          </a:prstGeom>
          <a:solidFill>
            <a:srgbClr val="004A98"/>
          </a:solidFill>
          <a:ln w="0">
            <a:solidFill>
              <a:srgbClr val="004A98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59F433-521C-44F9-91E7-84AE05395790}"/>
              </a:ext>
            </a:extLst>
          </p:cNvPr>
          <p:cNvSpPr>
            <a:spLocks noGrp="1"/>
          </p:cNvSpPr>
          <p:nvPr/>
        </p:nvSpPr>
        <p:spPr>
          <a:xfrm>
            <a:off x="857250" y="15430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功能项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3F4810-098E-48BF-81C8-AEACAB77558E}"/>
              </a:ext>
            </a:extLst>
          </p:cNvPr>
          <p:cNvSpPr>
            <a:spLocks noGrp="1"/>
          </p:cNvSpPr>
          <p:nvPr/>
        </p:nvSpPr>
        <p:spPr>
          <a:xfrm>
            <a:off x="3143250" y="154305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86E6CF3-BCFF-46D5-B30A-166325CE4872}"/>
              </a:ext>
            </a:extLst>
          </p:cNvPr>
          <p:cNvSpPr>
            <a:spLocks noGrp="1"/>
          </p:cNvSpPr>
          <p:nvPr/>
        </p:nvSpPr>
        <p:spPr>
          <a:xfrm>
            <a:off x="9639300" y="1543050"/>
            <a:ext cx="104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53681B8-3557-44AB-B5D7-B1C0C3EF58B6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0820400" cy="609600"/>
          </a:xfrm>
          <a:prstGeom prst="rect">
            <a:avLst/>
          </a:prstGeom>
          <a:solidFill>
            <a:srgbClr val="F8FBFF"/>
          </a:solidFill>
          <a:ln w="9525">
            <a:solidFill>
              <a:srgbClr val="DDE7F3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ACAF4A5-A7C7-4EB9-927C-F570A826FABC}"/>
              </a:ext>
            </a:extLst>
          </p:cNvPr>
          <p:cNvSpPr>
            <a:spLocks noGrp="1"/>
          </p:cNvSpPr>
          <p:nvPr/>
        </p:nvSpPr>
        <p:spPr>
          <a:xfrm>
            <a:off x="895350" y="20193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Agent 纳管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C9A3C34-B32D-42C9-B7D7-C408CD48E188}"/>
              </a:ext>
            </a:extLst>
          </p:cNvPr>
          <p:cNvSpPr>
            <a:spLocks noGrp="1"/>
          </p:cNvSpPr>
          <p:nvPr/>
        </p:nvSpPr>
        <p:spPr>
          <a:xfrm>
            <a:off x="3028950" y="201930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注册 Token、AgentId、HostId、心跳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CA9329B-E35C-4876-AD72-BE74A3B9623C}"/>
              </a:ext>
            </a:extLst>
          </p:cNvPr>
          <p:cNvSpPr>
            <a:spLocks noGrp="1"/>
          </p:cNvSpPr>
          <p:nvPr/>
        </p:nvSpPr>
        <p:spPr>
          <a:xfrm>
            <a:off x="9620250" y="2019300"/>
            <a:ext cx="1066800" cy="28575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1C8C64"/>
            </a:solidFill>
            <a:prstDash val="solid"/>
          </a:ln>
        </p:spPr>
        <p:txBody>
          <a:bodyPr lIns="47625" tIns="9525" rIns="47625" bIns="9525" anchor="ctr"/>
          <a:lstStyle/>
          <a:p>
            <a:pPr algn="ctr">
              <a:buNone/>
              <a:defRPr sz="1125" b="1">
                <a:solidFill>
                  <a:srgbClr val="1C8C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C8C64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8CD3F36-3B18-4F1D-81B8-D972D1727750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08204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7F3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51B63AF-97A8-4381-A3D6-9A2F2FB27CB2}"/>
              </a:ext>
            </a:extLst>
          </p:cNvPr>
          <p:cNvSpPr>
            <a:spLocks noGrp="1"/>
          </p:cNvSpPr>
          <p:nvPr/>
        </p:nvSpPr>
        <p:spPr>
          <a:xfrm>
            <a:off x="895350" y="26289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主机监控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FCECC56-59D4-4D24-98E9-1077BC63D7D4}"/>
              </a:ext>
            </a:extLst>
          </p:cNvPr>
          <p:cNvSpPr>
            <a:spLocks noGrp="1"/>
          </p:cNvSpPr>
          <p:nvPr/>
        </p:nvSpPr>
        <p:spPr>
          <a:xfrm>
            <a:off x="3028950" y="262890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CPU、内存、磁盘、网卡、TCP、最近心跳、真实/模拟标识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59B7E91-1CE4-4E3E-8F9A-500C4C289882}"/>
              </a:ext>
            </a:extLst>
          </p:cNvPr>
          <p:cNvSpPr>
            <a:spLocks noGrp="1"/>
          </p:cNvSpPr>
          <p:nvPr/>
        </p:nvSpPr>
        <p:spPr>
          <a:xfrm>
            <a:off x="9620250" y="2628900"/>
            <a:ext cx="1066800" cy="28575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1C8C64"/>
            </a:solidFill>
            <a:prstDash val="solid"/>
          </a:ln>
        </p:spPr>
        <p:txBody>
          <a:bodyPr lIns="47625" tIns="9525" rIns="47625" bIns="9525" anchor="ctr"/>
          <a:lstStyle/>
          <a:p>
            <a:pPr algn="ctr">
              <a:buNone/>
              <a:defRPr sz="1125" b="1">
                <a:solidFill>
                  <a:srgbClr val="1C8C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C8C64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3C98D7F-D069-41E1-91F6-89565C4B183E}"/>
              </a:ext>
            </a:extLst>
          </p:cNvPr>
          <p:cNvSpPr>
            <a:spLocks noGrp="1"/>
          </p:cNvSpPr>
          <p:nvPr/>
        </p:nvSpPr>
        <p:spPr>
          <a:xfrm>
            <a:off x="685800" y="3086100"/>
            <a:ext cx="10820400" cy="609600"/>
          </a:xfrm>
          <a:prstGeom prst="rect">
            <a:avLst/>
          </a:prstGeom>
          <a:solidFill>
            <a:srgbClr val="F8FBFF"/>
          </a:solidFill>
          <a:ln w="9525">
            <a:solidFill>
              <a:srgbClr val="DDE7F3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47C99AE-9F93-4AAA-B85A-8452D645E30E}"/>
              </a:ext>
            </a:extLst>
          </p:cNvPr>
          <p:cNvSpPr>
            <a:spLocks noGrp="1"/>
          </p:cNvSpPr>
          <p:nvPr/>
        </p:nvSpPr>
        <p:spPr>
          <a:xfrm>
            <a:off x="895350" y="32385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历史趋势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3996201-35C2-4C46-AD27-445690D9044A}"/>
              </a:ext>
            </a:extLst>
          </p:cNvPr>
          <p:cNvSpPr>
            <a:spLocks noGrp="1"/>
          </p:cNvSpPr>
          <p:nvPr/>
        </p:nvSpPr>
        <p:spPr>
          <a:xfrm>
            <a:off x="3028950" y="323850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10 分钟 / 30 分钟 / 1 小时 / 6 小时 / 24 小时 / 按日期曲线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09C7A0B-3850-477C-984D-198778ED33A2}"/>
              </a:ext>
            </a:extLst>
          </p:cNvPr>
          <p:cNvSpPr>
            <a:spLocks noGrp="1"/>
          </p:cNvSpPr>
          <p:nvPr/>
        </p:nvSpPr>
        <p:spPr>
          <a:xfrm>
            <a:off x="9620250" y="3238500"/>
            <a:ext cx="1066800" cy="28575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1C8C64"/>
            </a:solidFill>
            <a:prstDash val="solid"/>
          </a:ln>
        </p:spPr>
        <p:txBody>
          <a:bodyPr lIns="47625" tIns="9525" rIns="47625" bIns="9525" anchor="ctr"/>
          <a:lstStyle/>
          <a:p>
            <a:pPr algn="ctr">
              <a:buNone/>
              <a:defRPr sz="1125" b="1">
                <a:solidFill>
                  <a:srgbClr val="1C8C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C8C64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54D4C6D-A9F5-496A-9FCC-F38EDBEFC657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108204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7F3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4F72E76-B14E-447B-A6D9-AC729EBEA393}"/>
              </a:ext>
            </a:extLst>
          </p:cNvPr>
          <p:cNvSpPr>
            <a:spLocks noGrp="1"/>
          </p:cNvSpPr>
          <p:nvPr/>
        </p:nvSpPr>
        <p:spPr>
          <a:xfrm>
            <a:off x="895350" y="38481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服务发现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2ADBD2F-572A-49DB-8212-38CDE9DC908E}"/>
              </a:ext>
            </a:extLst>
          </p:cNvPr>
          <p:cNvSpPr>
            <a:spLocks noGrp="1"/>
          </p:cNvSpPr>
          <p:nvPr/>
        </p:nvSpPr>
        <p:spPr>
          <a:xfrm>
            <a:off x="3028950" y="384810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Nginx、MySQL、Spring Boot、Redis、Node.js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E4F21F7-D911-4E8F-A9C3-0AEA9921E357}"/>
              </a:ext>
            </a:extLst>
          </p:cNvPr>
          <p:cNvSpPr>
            <a:spLocks noGrp="1"/>
          </p:cNvSpPr>
          <p:nvPr/>
        </p:nvSpPr>
        <p:spPr>
          <a:xfrm>
            <a:off x="9620250" y="3848100"/>
            <a:ext cx="1066800" cy="28575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1C8C64"/>
            </a:solidFill>
            <a:prstDash val="solid"/>
          </a:ln>
        </p:spPr>
        <p:txBody>
          <a:bodyPr lIns="47625" tIns="9525" rIns="47625" bIns="9525" anchor="ctr"/>
          <a:lstStyle/>
          <a:p>
            <a:pPr algn="ctr">
              <a:buNone/>
              <a:defRPr sz="1125" b="1">
                <a:solidFill>
                  <a:srgbClr val="1C8C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C8C64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5FE3839-5FB7-440D-8076-C3DCD643342E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10820400" cy="609600"/>
          </a:xfrm>
          <a:prstGeom prst="rect">
            <a:avLst/>
          </a:prstGeom>
          <a:solidFill>
            <a:srgbClr val="F8FBFF"/>
          </a:solidFill>
          <a:ln w="9525">
            <a:solidFill>
              <a:srgbClr val="DDE7F3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C308A5B-C08E-4D84-8EA9-42477AAAB08A}"/>
              </a:ext>
            </a:extLst>
          </p:cNvPr>
          <p:cNvSpPr>
            <a:spLocks noGrp="1"/>
          </p:cNvSpPr>
          <p:nvPr/>
        </p:nvSpPr>
        <p:spPr>
          <a:xfrm>
            <a:off x="895350" y="44577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告警 ACK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3DD6B31-8151-49D0-9530-D31A7AA2063E}"/>
              </a:ext>
            </a:extLst>
          </p:cNvPr>
          <p:cNvSpPr>
            <a:spLocks noGrp="1"/>
          </p:cNvSpPr>
          <p:nvPr/>
        </p:nvSpPr>
        <p:spPr>
          <a:xfrm>
            <a:off x="3028950" y="445770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OPEN -&gt; ACKED，记录确认人、时间、备注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78FE0D44-ADF9-4AE5-947A-58D0A50BE0D4}"/>
              </a:ext>
            </a:extLst>
          </p:cNvPr>
          <p:cNvSpPr>
            <a:spLocks noGrp="1"/>
          </p:cNvSpPr>
          <p:nvPr/>
        </p:nvSpPr>
        <p:spPr>
          <a:xfrm>
            <a:off x="9620250" y="4457700"/>
            <a:ext cx="1066800" cy="28575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1C8C64"/>
            </a:solidFill>
            <a:prstDash val="solid"/>
          </a:ln>
        </p:spPr>
        <p:txBody>
          <a:bodyPr lIns="47625" tIns="9525" rIns="47625" bIns="9525" anchor="ctr"/>
          <a:lstStyle/>
          <a:p>
            <a:pPr algn="ctr">
              <a:buNone/>
              <a:defRPr sz="1125" b="1">
                <a:solidFill>
                  <a:srgbClr val="1C8C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C8C64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72878C8-27E6-48AE-B1D7-68AA535A4C43}"/>
              </a:ext>
            </a:extLst>
          </p:cNvPr>
          <p:cNvSpPr>
            <a:spLocks noGrp="1"/>
          </p:cNvSpPr>
          <p:nvPr/>
        </p:nvSpPr>
        <p:spPr>
          <a:xfrm>
            <a:off x="685800" y="4914899"/>
            <a:ext cx="10820400" cy="685801"/>
          </a:xfrm>
          <a:prstGeom prst="rect">
            <a:avLst/>
          </a:prstGeom>
          <a:solidFill>
            <a:srgbClr val="FFFFFF"/>
          </a:solidFill>
          <a:ln w="9525">
            <a:solidFill>
              <a:srgbClr val="DDE7F3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D65931D-AEE9-4FF9-A760-7B36D8D22571}"/>
              </a:ext>
            </a:extLst>
          </p:cNvPr>
          <p:cNvSpPr>
            <a:spLocks noGrp="1"/>
          </p:cNvSpPr>
          <p:nvPr/>
        </p:nvSpPr>
        <p:spPr>
          <a:xfrm>
            <a:off x="895350" y="50673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权限 / 通知 / 规则编辑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D75A665-2817-4326-AA29-FEE726D83CBD}"/>
              </a:ext>
            </a:extLst>
          </p:cNvPr>
          <p:cNvSpPr>
            <a:spLocks noGrp="1"/>
          </p:cNvSpPr>
          <p:nvPr/>
        </p:nvSpPr>
        <p:spPr>
          <a:xfrm>
            <a:off x="3028950" y="506730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RBAC、邮件/企业微信、复杂规则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5F439F66-D918-4B86-80E8-99AE7CC989DD}"/>
              </a:ext>
            </a:extLst>
          </p:cNvPr>
          <p:cNvSpPr>
            <a:spLocks noGrp="1"/>
          </p:cNvSpPr>
          <p:nvPr/>
        </p:nvSpPr>
        <p:spPr>
          <a:xfrm>
            <a:off x="9620250" y="5067300"/>
            <a:ext cx="1066800" cy="285750"/>
          </a:xfrm>
          <a:prstGeom prst="roundRect">
            <a:avLst>
              <a:gd name="adj" fmla="val 50000"/>
            </a:avLst>
          </a:prstGeom>
          <a:solidFill>
            <a:srgbClr val="FFF8E8"/>
          </a:solidFill>
          <a:ln w="9525">
            <a:solidFill>
              <a:srgbClr val="C89B3C"/>
            </a:solidFill>
            <a:prstDash val="solid"/>
          </a:ln>
        </p:spPr>
        <p:txBody>
          <a:bodyPr lIns="47625" tIns="9525" rIns="47625" bIns="9525" anchor="ctr"/>
          <a:lstStyle/>
          <a:p>
            <a:pPr algn="ctr">
              <a:buNone/>
              <a:defRPr sz="1125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rPr>
              <a:t>扩展设计</a:t>
            </a:r>
          </a:p>
        </p:txBody>
      </p:sp>
    </p:spTree>
    <p:extLst>
      <p:ext uri="{BB962C8B-B14F-4D97-AF65-F5344CB8AC3E}">
        <p14:creationId xmlns:p14="http://schemas.microsoft.com/office/powerpoint/2010/main" val="2129686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3A607B49-2510-4D1D-814D-730B09129184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软件工程课程设计</a:t>
            </a:r>
            <a:endParaRPr sz="1125" b="1" dirty="0">
              <a:solidFill>
                <a:srgbClr val="004A9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687708C-60DA-4832-87B0-75CEF3F60CD7}"/>
              </a:ext>
            </a:extLst>
          </p:cNvPr>
          <p:cNvSpPr>
            <a:spLocks noGrp="1"/>
          </p:cNvSpPr>
          <p:nvPr/>
        </p:nvSpPr>
        <p:spPr>
          <a:xfrm>
            <a:off x="11049000" y="22860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65EB52BD-67AA-46A4-8CED-1EAAE5DDE659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1087100" cy="0"/>
          </a:xfrm>
          <a:prstGeom prst="line">
            <a:avLst/>
          </a:prstGeom>
          <a:noFill/>
          <a:ln w="11430">
            <a:solidFill>
              <a:srgbClr val="D7E2E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34F3BD-733F-4EDA-8113-057BEB85561F}"/>
              </a:ext>
            </a:extLst>
          </p:cNvPr>
          <p:cNvSpPr>
            <a:spLocks noGrp="1"/>
          </p:cNvSpPr>
          <p:nvPr/>
        </p:nvSpPr>
        <p:spPr>
          <a:xfrm>
            <a:off x="552450" y="762000"/>
            <a:ext cx="809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总体架构设计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99B87BB-ECF2-49EE-8BFF-4DEEAFCE4916}"/>
              </a:ext>
            </a:extLst>
          </p:cNvPr>
          <p:cNvSpPr>
            <a:spLocks noGrp="1"/>
          </p:cNvSpPr>
          <p:nvPr/>
        </p:nvSpPr>
        <p:spPr>
          <a:xfrm>
            <a:off x="571500" y="1200150"/>
            <a:ext cx="828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前后端分离 + Agent 主动上报 + MySQL 持久化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FF3B7B-6152-4AF2-8A30-8DA8A482EF1F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AegisMonitor 一体化监控平台</a:t>
            </a:r>
          </a:p>
        </p:txBody>
      </p:sp>
      <p:pic>
        <p:nvPicPr>
          <p:cNvPr id="22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6" y="1775460"/>
            <a:ext cx="12002347" cy="445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179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E3691A1-B3A4-4361-B46C-627021008E7C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软件工程课程设计</a:t>
            </a:r>
            <a:endParaRPr sz="1125" b="1" dirty="0">
              <a:solidFill>
                <a:srgbClr val="004A9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49B8AC-1195-4B5F-9396-A77ED8236BC8}"/>
              </a:ext>
            </a:extLst>
          </p:cNvPr>
          <p:cNvSpPr>
            <a:spLocks noGrp="1"/>
          </p:cNvSpPr>
          <p:nvPr/>
        </p:nvSpPr>
        <p:spPr>
          <a:xfrm>
            <a:off x="11049000" y="22860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C4085FC1-1B87-4EB0-9A47-9FB897893604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1087100" cy="0"/>
          </a:xfrm>
          <a:prstGeom prst="line">
            <a:avLst/>
          </a:prstGeom>
          <a:noFill/>
          <a:ln w="11430">
            <a:solidFill>
              <a:srgbClr val="D7E2E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D42448-1BB6-419F-8903-299F486BE395}"/>
              </a:ext>
            </a:extLst>
          </p:cNvPr>
          <p:cNvSpPr>
            <a:spLocks noGrp="1"/>
          </p:cNvSpPr>
          <p:nvPr/>
        </p:nvSpPr>
        <p:spPr>
          <a:xfrm>
            <a:off x="552450" y="762000"/>
            <a:ext cx="809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部署与演示环境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E39667-4041-4DAF-BE4D-636E81C31B38}"/>
              </a:ext>
            </a:extLst>
          </p:cNvPr>
          <p:cNvSpPr>
            <a:spLocks noGrp="1"/>
          </p:cNvSpPr>
          <p:nvPr/>
        </p:nvSpPr>
        <p:spPr>
          <a:xfrm>
            <a:off x="571500" y="1200150"/>
            <a:ext cx="828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中心电脑承载平台，同学电脑作为真实 Agent 节点接入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49F934A-BB87-45A0-B88D-0B807EED3E1E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AegisMonitor 一体化监控平台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E347447-CC31-483A-BE53-684BC8CB725F}"/>
              </a:ext>
            </a:extLst>
          </p:cNvPr>
          <p:cNvSpPr>
            <a:spLocks noGrp="1"/>
          </p:cNvSpPr>
          <p:nvPr/>
        </p:nvSpPr>
        <p:spPr>
          <a:xfrm>
            <a:off x="1264316" y="5611437"/>
            <a:ext cx="942975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C9D6E6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3A2D75F-394F-4437-A33E-A2DFDFE26A1A}"/>
              </a:ext>
            </a:extLst>
          </p:cNvPr>
          <p:cNvSpPr>
            <a:spLocks noGrp="1"/>
          </p:cNvSpPr>
          <p:nvPr/>
        </p:nvSpPr>
        <p:spPr>
          <a:xfrm>
            <a:off x="1264316" y="5584074"/>
            <a:ext cx="66675" cy="704850"/>
          </a:xfrm>
          <a:prstGeom prst="rect">
            <a:avLst/>
          </a:prstGeom>
          <a:solidFill>
            <a:srgbClr val="004A98"/>
          </a:solidFill>
          <a:ln w="0">
            <a:solidFill>
              <a:srgbClr val="004A98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2D4F72D-B49D-441A-9346-9F18B346A0EE}"/>
              </a:ext>
            </a:extLst>
          </p:cNvPr>
          <p:cNvSpPr>
            <a:spLocks noGrp="1"/>
          </p:cNvSpPr>
          <p:nvPr/>
        </p:nvSpPr>
        <p:spPr>
          <a:xfrm>
            <a:off x="1473866" y="5666163"/>
            <a:ext cx="9010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演示规模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563D82-E4F1-44C7-8732-5B76BD184E19}"/>
              </a:ext>
            </a:extLst>
          </p:cNvPr>
          <p:cNvSpPr>
            <a:spLocks noGrp="1"/>
          </p:cNvSpPr>
          <p:nvPr/>
        </p:nvSpPr>
        <p:spPr>
          <a:xfrm>
            <a:off x="1497934" y="5981700"/>
            <a:ext cx="9010650" cy="76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6000"/>
              </a:lnSpc>
              <a:buNone/>
              <a:defRPr sz="1500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真实主机用于证明 Agent 可接入；模拟主机用于稳定展示多节点、服务组件和告警场景。</a:t>
            </a:r>
          </a:p>
        </p:txBody>
      </p:sp>
      <p:pic>
        <p:nvPicPr>
          <p:cNvPr id="36" name="图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46" y="1330637"/>
            <a:ext cx="11941307" cy="419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242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5C6D3734-F444-4DAA-9230-2261CCA4CB72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软件工程课程设计</a:t>
            </a:r>
            <a:endParaRPr sz="1125" b="1" dirty="0">
              <a:solidFill>
                <a:srgbClr val="004A9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9D74742-4004-4A7A-A197-7E1B8B09C3CE}"/>
              </a:ext>
            </a:extLst>
          </p:cNvPr>
          <p:cNvSpPr>
            <a:spLocks noGrp="1"/>
          </p:cNvSpPr>
          <p:nvPr/>
        </p:nvSpPr>
        <p:spPr>
          <a:xfrm>
            <a:off x="11049000" y="22860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785652B9-752B-4BFD-9C22-4704D3D35692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1087100" cy="0"/>
          </a:xfrm>
          <a:prstGeom prst="line">
            <a:avLst/>
          </a:prstGeom>
          <a:noFill/>
          <a:ln w="11430">
            <a:solidFill>
              <a:srgbClr val="D7E2E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092E42-484D-48C9-B5F7-415B24A59AB1}"/>
              </a:ext>
            </a:extLst>
          </p:cNvPr>
          <p:cNvSpPr>
            <a:spLocks noGrp="1"/>
          </p:cNvSpPr>
          <p:nvPr/>
        </p:nvSpPr>
        <p:spPr>
          <a:xfrm>
            <a:off x="552450" y="762000"/>
            <a:ext cx="809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数据库设计：核心 ER 图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732448-F19D-44F9-98E4-63866C1E0A57}"/>
              </a:ext>
            </a:extLst>
          </p:cNvPr>
          <p:cNvSpPr>
            <a:spLocks noGrp="1"/>
          </p:cNvSpPr>
          <p:nvPr/>
        </p:nvSpPr>
        <p:spPr>
          <a:xfrm>
            <a:off x="571500" y="1200150"/>
            <a:ext cx="828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围绕主机资产、指标历史、服务实例和告警事件建模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D85C0D-1670-425B-B8D3-499CA9334E12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AegisMonitor 一体化监控平台</a:t>
            </a:r>
          </a:p>
        </p:txBody>
      </p:sp>
      <p:pic>
        <p:nvPicPr>
          <p:cNvPr id="21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4834"/>
            <a:ext cx="12192000" cy="554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729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06E4123C-D9E8-4AB3-A9E8-43A6460EF8E5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软件工程课程设计</a:t>
            </a:r>
            <a:endParaRPr sz="1125" b="1" dirty="0">
              <a:solidFill>
                <a:srgbClr val="004A9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91DF5C-839A-4276-B6BF-E20958C8AE87}"/>
              </a:ext>
            </a:extLst>
          </p:cNvPr>
          <p:cNvSpPr>
            <a:spLocks noGrp="1"/>
          </p:cNvSpPr>
          <p:nvPr/>
        </p:nvSpPr>
        <p:spPr>
          <a:xfrm>
            <a:off x="11049000" y="22860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B449241-1DEE-4B4D-BF96-7374F9F25A1C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1087100" cy="0"/>
          </a:xfrm>
          <a:prstGeom prst="line">
            <a:avLst/>
          </a:prstGeom>
          <a:noFill/>
          <a:ln w="11430">
            <a:solidFill>
              <a:srgbClr val="D7E2E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1955D1-7716-4032-9344-D134FC532E87}"/>
              </a:ext>
            </a:extLst>
          </p:cNvPr>
          <p:cNvSpPr>
            <a:spLocks noGrp="1"/>
          </p:cNvSpPr>
          <p:nvPr/>
        </p:nvSpPr>
        <p:spPr>
          <a:xfrm>
            <a:off x="552450" y="762000"/>
            <a:ext cx="809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核心流程：Agent 注册与指标上报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17A2DC-8973-4652-8AE8-77418DA55CB2}"/>
              </a:ext>
            </a:extLst>
          </p:cNvPr>
          <p:cNvSpPr>
            <a:spLocks noGrp="1"/>
          </p:cNvSpPr>
          <p:nvPr/>
        </p:nvSpPr>
        <p:spPr>
          <a:xfrm>
            <a:off x="571500" y="1200150"/>
            <a:ext cx="828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Agent 首次纳管后保存身份，后续上报均校验凭证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A2A156-B6CB-4DFD-B654-DD0BE07FBFA0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AegisMonitor 一体化监控平台</a:t>
            </a:r>
          </a:p>
        </p:txBody>
      </p:sp>
      <p:pic>
        <p:nvPicPr>
          <p:cNvPr id="17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38" y="1466850"/>
            <a:ext cx="10637340" cy="481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612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9C1F783C-30EE-4B27-96FC-C95887C9F06E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软件工程课程设计</a:t>
            </a:r>
            <a:endParaRPr sz="1125" b="1" dirty="0">
              <a:solidFill>
                <a:srgbClr val="004A9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9F14519-8DD2-48A1-A480-F02AE749A95A}"/>
              </a:ext>
            </a:extLst>
          </p:cNvPr>
          <p:cNvSpPr>
            <a:spLocks noGrp="1"/>
          </p:cNvSpPr>
          <p:nvPr/>
        </p:nvSpPr>
        <p:spPr>
          <a:xfrm>
            <a:off x="11049000" y="22860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ECFD0A03-87E3-4154-BB03-1D60955BFFE7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1087100" cy="0"/>
          </a:xfrm>
          <a:prstGeom prst="line">
            <a:avLst/>
          </a:prstGeom>
          <a:noFill/>
          <a:ln w="11430">
            <a:solidFill>
              <a:srgbClr val="D7E2E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AE42F5-9806-4E04-A1FF-766124740567}"/>
              </a:ext>
            </a:extLst>
          </p:cNvPr>
          <p:cNvSpPr>
            <a:spLocks noGrp="1"/>
          </p:cNvSpPr>
          <p:nvPr/>
        </p:nvSpPr>
        <p:spPr>
          <a:xfrm>
            <a:off x="552450" y="762000"/>
            <a:ext cx="809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核心流程：告警生成与 ACK 闭环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BECB02-468D-4E5C-9F16-08C7687AE8F0}"/>
              </a:ext>
            </a:extLst>
          </p:cNvPr>
          <p:cNvSpPr>
            <a:spLocks noGrp="1"/>
          </p:cNvSpPr>
          <p:nvPr/>
        </p:nvSpPr>
        <p:spPr>
          <a:xfrm>
            <a:off x="571500" y="1200150"/>
            <a:ext cx="828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从指标异常到人工确认，形成可追踪处理记录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D58CA6D-88D5-48D2-B0E6-794D1A72CCB3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AegisMonitor 一体化监控平台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1E1434C-725D-4451-B307-0A495B26AA10}"/>
              </a:ext>
            </a:extLst>
          </p:cNvPr>
          <p:cNvSpPr>
            <a:spLocks noGrp="1"/>
          </p:cNvSpPr>
          <p:nvPr/>
        </p:nvSpPr>
        <p:spPr>
          <a:xfrm>
            <a:off x="1230021" y="4928447"/>
            <a:ext cx="4368800" cy="116755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6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C68876B-0A35-4119-AA20-0FD5743BD742}"/>
              </a:ext>
            </a:extLst>
          </p:cNvPr>
          <p:cNvSpPr>
            <a:spLocks noGrp="1"/>
          </p:cNvSpPr>
          <p:nvPr/>
        </p:nvSpPr>
        <p:spPr>
          <a:xfrm>
            <a:off x="1230021" y="4928448"/>
            <a:ext cx="88053" cy="1167550"/>
          </a:xfrm>
          <a:prstGeom prst="rect">
            <a:avLst/>
          </a:prstGeom>
          <a:solidFill>
            <a:srgbClr val="B3262E"/>
          </a:solidFill>
          <a:ln w="0">
            <a:solidFill>
              <a:srgbClr val="B3262E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E25B7C4-1A95-4D35-9F27-9FD66AFFFE78}"/>
              </a:ext>
            </a:extLst>
          </p:cNvPr>
          <p:cNvSpPr>
            <a:spLocks noGrp="1"/>
          </p:cNvSpPr>
          <p:nvPr/>
        </p:nvSpPr>
        <p:spPr>
          <a:xfrm>
            <a:off x="1439571" y="5080848"/>
            <a:ext cx="3848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去重策略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9A78F94-E82D-4D02-A97D-2DD5D88567BC}"/>
              </a:ext>
            </a:extLst>
          </p:cNvPr>
          <p:cNvSpPr>
            <a:spLocks noGrp="1"/>
          </p:cNvSpPr>
          <p:nvPr/>
        </p:nvSpPr>
        <p:spPr>
          <a:xfrm>
            <a:off x="1439571" y="5461848"/>
            <a:ext cx="3848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同一主机、同一规则已有 OPEN 告警时不重复创建，避免告警列表被同类事件刷屏。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DF8540D-C516-4B64-9F2E-FA7C230CF043}"/>
              </a:ext>
            </a:extLst>
          </p:cNvPr>
          <p:cNvSpPr>
            <a:spLocks noGrp="1"/>
          </p:cNvSpPr>
          <p:nvPr/>
        </p:nvSpPr>
        <p:spPr>
          <a:xfrm>
            <a:off x="6705600" y="4928447"/>
            <a:ext cx="4343400" cy="116755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6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62B6F72-A2B9-43C1-8375-7F7655247EAE}"/>
              </a:ext>
            </a:extLst>
          </p:cNvPr>
          <p:cNvSpPr>
            <a:spLocks noGrp="1"/>
          </p:cNvSpPr>
          <p:nvPr/>
        </p:nvSpPr>
        <p:spPr>
          <a:xfrm>
            <a:off x="6705600" y="4928448"/>
            <a:ext cx="88053" cy="1167550"/>
          </a:xfrm>
          <a:prstGeom prst="rect">
            <a:avLst/>
          </a:prstGeom>
          <a:solidFill>
            <a:srgbClr val="1C8C64"/>
          </a:solidFill>
          <a:ln w="0">
            <a:solidFill>
              <a:srgbClr val="1C8C64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8107956-1BE0-400C-8C9B-3E1D2F273BB2}"/>
              </a:ext>
            </a:extLst>
          </p:cNvPr>
          <p:cNvSpPr>
            <a:spLocks noGrp="1"/>
          </p:cNvSpPr>
          <p:nvPr/>
        </p:nvSpPr>
        <p:spPr>
          <a:xfrm>
            <a:off x="6915150" y="5080848"/>
            <a:ext cx="3848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ACK 含义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18A0BD3-05D0-435B-86E8-BAFD797D655F}"/>
              </a:ext>
            </a:extLst>
          </p:cNvPr>
          <p:cNvSpPr>
            <a:spLocks noGrp="1"/>
          </p:cNvSpPr>
          <p:nvPr/>
        </p:nvSpPr>
        <p:spPr>
          <a:xfrm>
            <a:off x="6915150" y="5461848"/>
            <a:ext cx="3848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ACK 不删除告警，而是记录告警已被接手处理；状态、确认人、时间和备注都保留。</a:t>
            </a:r>
          </a:p>
        </p:txBody>
      </p:sp>
      <p:pic>
        <p:nvPicPr>
          <p:cNvPr id="39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1960" y="-393937"/>
            <a:ext cx="12192000" cy="59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723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A72111A9-DCD1-4745-817B-C616E4D05189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软件工程课程设计</a:t>
            </a:r>
            <a:endParaRPr sz="1125" b="1" dirty="0">
              <a:solidFill>
                <a:srgbClr val="004A9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3410AF-C866-4050-978D-BE7B21E848C6}"/>
              </a:ext>
            </a:extLst>
          </p:cNvPr>
          <p:cNvSpPr>
            <a:spLocks noGrp="1"/>
          </p:cNvSpPr>
          <p:nvPr/>
        </p:nvSpPr>
        <p:spPr>
          <a:xfrm>
            <a:off x="11049000" y="22860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08053B07-018C-4C9B-9307-A1DB93EC66AC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1087100" cy="0"/>
          </a:xfrm>
          <a:prstGeom prst="line">
            <a:avLst/>
          </a:prstGeom>
          <a:noFill/>
          <a:ln w="11430">
            <a:solidFill>
              <a:srgbClr val="D7E2E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C4E11C8-B32A-4045-BA6B-B3A84946EC0A}"/>
              </a:ext>
            </a:extLst>
          </p:cNvPr>
          <p:cNvSpPr>
            <a:spLocks noGrp="1"/>
          </p:cNvSpPr>
          <p:nvPr/>
        </p:nvSpPr>
        <p:spPr>
          <a:xfrm>
            <a:off x="552450" y="762000"/>
            <a:ext cx="809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核心实现：Python Agent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84494B6-4A29-4944-A250-D57D80B82728}"/>
              </a:ext>
            </a:extLst>
          </p:cNvPr>
          <p:cNvSpPr>
            <a:spLocks noGrp="1"/>
          </p:cNvSpPr>
          <p:nvPr/>
        </p:nvSpPr>
        <p:spPr>
          <a:xfrm>
            <a:off x="571500" y="1200150"/>
            <a:ext cx="828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部署在被监控主机上，负责采集、注册、心跳和上报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8E6D4CF-AB4C-41AE-8617-87698BDE0E86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AegisMonitor 一体化监控平台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BFBAC3E-91F5-44F1-B8A2-2A58F388BE63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3048000" cy="31623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9D6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93002B-965D-4B7F-A371-DA5587D4E4C8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66675" cy="3162300"/>
          </a:xfrm>
          <a:prstGeom prst="rect">
            <a:avLst/>
          </a:prstGeom>
          <a:solidFill>
            <a:srgbClr val="004A98"/>
          </a:solidFill>
          <a:ln w="0">
            <a:solidFill>
              <a:srgbClr val="004A9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BC88B1A-978E-4CA5-955F-070757707E5A}"/>
              </a:ext>
            </a:extLst>
          </p:cNvPr>
          <p:cNvSpPr>
            <a:spLocks noGrp="1"/>
          </p:cNvSpPr>
          <p:nvPr/>
        </p:nvSpPr>
        <p:spPr>
          <a:xfrm>
            <a:off x="933450" y="1752600"/>
            <a:ext cx="2628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关键模块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210F8A2-AFBD-47DE-8F96-708EA2AA9F3F}"/>
              </a:ext>
            </a:extLst>
          </p:cNvPr>
          <p:cNvSpPr>
            <a:spLocks noGrp="1"/>
          </p:cNvSpPr>
          <p:nvPr/>
        </p:nvSpPr>
        <p:spPr>
          <a:xfrm>
            <a:off x="952500" y="2133600"/>
            <a:ext cx="259080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0" rIns="28575" bIns="0"/>
          <a:lstStyle/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config.py：读取 agent.yml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registration.py：首次注册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identity.py：保存身份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heartbeat.py：心跳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host_collector.py：主机信息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service_discovery.py：服务识别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runtime.py：调度一次/持续运行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A6CA50A-2E84-4944-B158-A3FB85681F99}"/>
              </a:ext>
            </a:extLst>
          </p:cNvPr>
          <p:cNvSpPr>
            <a:spLocks noGrp="1"/>
          </p:cNvSpPr>
          <p:nvPr/>
        </p:nvSpPr>
        <p:spPr>
          <a:xfrm>
            <a:off x="4438650" y="1600200"/>
            <a:ext cx="3048000" cy="31623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9D6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0C3B2CF-A8FE-4E35-B901-07D8C88703C3}"/>
              </a:ext>
            </a:extLst>
          </p:cNvPr>
          <p:cNvSpPr>
            <a:spLocks noGrp="1"/>
          </p:cNvSpPr>
          <p:nvPr/>
        </p:nvSpPr>
        <p:spPr>
          <a:xfrm>
            <a:off x="4438650" y="1600200"/>
            <a:ext cx="66675" cy="3162300"/>
          </a:xfrm>
          <a:prstGeom prst="rect">
            <a:avLst/>
          </a:prstGeom>
          <a:solidFill>
            <a:srgbClr val="1C8C64"/>
          </a:solidFill>
          <a:ln w="0">
            <a:solidFill>
              <a:srgbClr val="1C8C64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1D79104-28C2-41FF-B75F-655C03300958}"/>
              </a:ext>
            </a:extLst>
          </p:cNvPr>
          <p:cNvSpPr>
            <a:spLocks noGrp="1"/>
          </p:cNvSpPr>
          <p:nvPr/>
        </p:nvSpPr>
        <p:spPr>
          <a:xfrm>
            <a:off x="4648200" y="1752600"/>
            <a:ext cx="2628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采集内容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5C8D56-BCAA-4D12-8B8F-DF049F7D43BE}"/>
              </a:ext>
            </a:extLst>
          </p:cNvPr>
          <p:cNvSpPr>
            <a:spLocks noGrp="1"/>
          </p:cNvSpPr>
          <p:nvPr/>
        </p:nvSpPr>
        <p:spPr>
          <a:xfrm>
            <a:off x="4667250" y="2133600"/>
            <a:ext cx="259080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0" rIns="28575" bIns="0"/>
          <a:lstStyle/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35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主机名、IP、系统版本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35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CPU / 内存 / 磁盘使用率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35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网卡 RX / TX 流量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35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TCP 连接数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35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进程名、命令行、PID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35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监听端口与服务类型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2E9F7C2-69A5-4D5D-B0AB-37304F9CF6B1}"/>
              </a:ext>
            </a:extLst>
          </p:cNvPr>
          <p:cNvSpPr>
            <a:spLocks noGrp="1"/>
          </p:cNvSpPr>
          <p:nvPr/>
        </p:nvSpPr>
        <p:spPr>
          <a:xfrm>
            <a:off x="8153400" y="1600200"/>
            <a:ext cx="3048000" cy="31623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9D6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5125B0D-1261-4CB3-8162-BBCE13584942}"/>
              </a:ext>
            </a:extLst>
          </p:cNvPr>
          <p:cNvSpPr>
            <a:spLocks noGrp="1"/>
          </p:cNvSpPr>
          <p:nvPr/>
        </p:nvSpPr>
        <p:spPr>
          <a:xfrm>
            <a:off x="8153400" y="1600200"/>
            <a:ext cx="66675" cy="3162300"/>
          </a:xfrm>
          <a:prstGeom prst="rect">
            <a:avLst/>
          </a:prstGeom>
          <a:solidFill>
            <a:srgbClr val="C89B3C"/>
          </a:solidFill>
          <a:ln w="0">
            <a:solidFill>
              <a:srgbClr val="C89B3C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D95339D-520A-4C8E-A165-F7445532CA67}"/>
              </a:ext>
            </a:extLst>
          </p:cNvPr>
          <p:cNvSpPr>
            <a:spLocks noGrp="1"/>
          </p:cNvSpPr>
          <p:nvPr/>
        </p:nvSpPr>
        <p:spPr>
          <a:xfrm>
            <a:off x="8362950" y="1752600"/>
            <a:ext cx="2628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运行方式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6EB39DF-F91A-45ED-B442-061A08D243CB}"/>
              </a:ext>
            </a:extLst>
          </p:cNvPr>
          <p:cNvSpPr>
            <a:spLocks noGrp="1"/>
          </p:cNvSpPr>
          <p:nvPr/>
        </p:nvSpPr>
        <p:spPr>
          <a:xfrm>
            <a:off x="8382000" y="2133600"/>
            <a:ext cx="259080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0" rIns="28575" bIns="0"/>
          <a:lstStyle/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35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run-once：单次验证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35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run：持续采集上报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35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采集周期可配置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35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状态文件可删除后重新注册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35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同学电脑只需要运行 Agent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91A0386-BB81-4B50-91EE-087D00A9CEC3}"/>
              </a:ext>
            </a:extLst>
          </p:cNvPr>
          <p:cNvSpPr>
            <a:spLocks noGrp="1"/>
          </p:cNvSpPr>
          <p:nvPr/>
        </p:nvSpPr>
        <p:spPr>
          <a:xfrm>
            <a:off x="1009650" y="5276850"/>
            <a:ext cx="10172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Agent 是系统接触真实主机的入口，后端和前端展示的数据都来自它的上报。</a:t>
            </a:r>
          </a:p>
        </p:txBody>
      </p:sp>
    </p:spTree>
    <p:extLst>
      <p:ext uri="{BB962C8B-B14F-4D97-AF65-F5344CB8AC3E}">
        <p14:creationId xmlns:p14="http://schemas.microsoft.com/office/powerpoint/2010/main" val="476172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18569F8-8C3B-461C-88F4-72E75F4F8E2E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软件工程课程设计</a:t>
            </a:r>
            <a:endParaRPr sz="1125" b="1" dirty="0">
              <a:solidFill>
                <a:srgbClr val="004A9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A86243A-6C4A-4C0B-A316-A28819A8D6CC}"/>
              </a:ext>
            </a:extLst>
          </p:cNvPr>
          <p:cNvSpPr>
            <a:spLocks noGrp="1"/>
          </p:cNvSpPr>
          <p:nvPr/>
        </p:nvSpPr>
        <p:spPr>
          <a:xfrm>
            <a:off x="11049000" y="22860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0FB4A1E6-6E3B-4F06-BFD4-7AD0167B79A9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1087100" cy="0"/>
          </a:xfrm>
          <a:prstGeom prst="line">
            <a:avLst/>
          </a:prstGeom>
          <a:noFill/>
          <a:ln w="11430">
            <a:solidFill>
              <a:srgbClr val="D7E2E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28D26B-F953-4FCC-9779-43A01DE0C6F8}"/>
              </a:ext>
            </a:extLst>
          </p:cNvPr>
          <p:cNvSpPr>
            <a:spLocks noGrp="1"/>
          </p:cNvSpPr>
          <p:nvPr/>
        </p:nvSpPr>
        <p:spPr>
          <a:xfrm>
            <a:off x="552450" y="762000"/>
            <a:ext cx="809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核心实现：Spring Boot 后端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BF2D53-7B98-40FB-8F34-7B30BB5402F4}"/>
              </a:ext>
            </a:extLst>
          </p:cNvPr>
          <p:cNvSpPr>
            <a:spLocks noGrp="1"/>
          </p:cNvSpPr>
          <p:nvPr/>
        </p:nvSpPr>
        <p:spPr>
          <a:xfrm>
            <a:off x="571500" y="1200150"/>
            <a:ext cx="828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Controller 接口层、Service 业务层、Repository 持久层分离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7D0E17-827B-4C2A-A0D5-03B79703A290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AegisMonitor 一体化监控平台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A72800F-5E8F-4B28-BD28-DBB08072ECC6}"/>
              </a:ext>
            </a:extLst>
          </p:cNvPr>
          <p:cNvSpPr>
            <a:spLocks noGrp="1"/>
          </p:cNvSpPr>
          <p:nvPr/>
        </p:nvSpPr>
        <p:spPr>
          <a:xfrm>
            <a:off x="1295400" y="2171700"/>
            <a:ext cx="1809750" cy="81915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4288">
            <a:solidFill>
              <a:srgbClr val="004A9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76200" tIns="47625" rIns="76200" bIns="47625" anchor="ctr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  <a:p>
            <a:pPr algn="ctr">
              <a:lnSpc>
                <a:spcPct val="108000"/>
              </a:lnSpc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HTTP API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0D4F335-D0BD-41A8-AAE1-5FB52CB38A95}"/>
              </a:ext>
            </a:extLst>
          </p:cNvPr>
          <p:cNvSpPr>
            <a:spLocks noGrp="1"/>
          </p:cNvSpPr>
          <p:nvPr/>
        </p:nvSpPr>
        <p:spPr>
          <a:xfrm>
            <a:off x="4057650" y="2171700"/>
            <a:ext cx="1809750" cy="81915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4288">
            <a:solidFill>
              <a:srgbClr val="C89B3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76200" tIns="47625" rIns="76200" bIns="47625" anchor="ctr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Service</a:t>
            </a:r>
          </a:p>
          <a:p>
            <a:pPr algn="ctr">
              <a:lnSpc>
                <a:spcPct val="108000"/>
              </a:lnSpc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业务规则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CC489B1-9105-486B-98BB-4193DCF23287}"/>
              </a:ext>
            </a:extLst>
          </p:cNvPr>
          <p:cNvSpPr>
            <a:spLocks noGrp="1"/>
          </p:cNvSpPr>
          <p:nvPr/>
        </p:nvSpPr>
        <p:spPr>
          <a:xfrm>
            <a:off x="6819900" y="2171700"/>
            <a:ext cx="1809750" cy="81915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4288">
            <a:solidFill>
              <a:srgbClr val="1C8C6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76200" tIns="47625" rIns="76200" bIns="47625" anchor="ctr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Repository</a:t>
            </a:r>
          </a:p>
          <a:p>
            <a:pPr algn="ctr">
              <a:lnSpc>
                <a:spcPct val="108000"/>
              </a:lnSpc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数据访问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736400E-730C-4694-A038-ABB0A63628F9}"/>
              </a:ext>
            </a:extLst>
          </p:cNvPr>
          <p:cNvSpPr>
            <a:spLocks noGrp="1"/>
          </p:cNvSpPr>
          <p:nvPr/>
        </p:nvSpPr>
        <p:spPr>
          <a:xfrm>
            <a:off x="9582150" y="2171700"/>
            <a:ext cx="1428750" cy="81915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4288">
            <a:solidFill>
              <a:srgbClr val="1C8C6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76200" tIns="47625" rIns="76200" bIns="47625" anchor="ctr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MySQL</a:t>
            </a:r>
          </a:p>
          <a:p>
            <a:pPr algn="ctr">
              <a:lnSpc>
                <a:spcPct val="108000"/>
              </a:lnSpc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schema.sql</a:t>
            </a:r>
          </a:p>
        </p:txBody>
      </p:sp>
      <p:cxnSp>
        <p:nvCxnSpPr>
          <p:cNvPr id="49" name="直接箭头连接符 35"/>
          <p:cNvCxnSpPr>
            <a:stCxn id="7" idx="3"/>
            <a:endCxn id="8" idx="1"/>
          </p:cNvCxnSpPr>
          <p:nvPr/>
        </p:nvCxnSpPr>
        <p:spPr>
          <a:xfrm>
            <a:off x="3105150" y="2581275"/>
            <a:ext cx="952500" cy="0"/>
          </a:xfrm>
          <a:prstGeom prst="straightConnector1">
            <a:avLst/>
          </a:prstGeom>
          <a:ln w="19050">
            <a:solidFill>
              <a:srgbClr val="1B65B9"/>
            </a:solidFill>
            <a:prstDash val="solid"/>
            <a:headEnd type="arrow" w="med" len="med"/>
          </a:ln>
        </p:spPr>
      </p:cxnSp>
      <p:cxnSp>
        <p:nvCxnSpPr>
          <p:cNvPr id="50" name="直接箭头连接符 36"/>
          <p:cNvCxnSpPr>
            <a:stCxn id="8" idx="3"/>
            <a:endCxn id="9" idx="1"/>
          </p:cNvCxnSpPr>
          <p:nvPr/>
        </p:nvCxnSpPr>
        <p:spPr>
          <a:xfrm>
            <a:off x="5867400" y="2581275"/>
            <a:ext cx="952500" cy="0"/>
          </a:xfrm>
          <a:prstGeom prst="straightConnector1">
            <a:avLst/>
          </a:prstGeom>
          <a:ln w="19050">
            <a:solidFill>
              <a:srgbClr val="C89B3C"/>
            </a:solidFill>
            <a:prstDash val="solid"/>
            <a:headEnd type="arrow" w="med" len="med"/>
          </a:ln>
        </p:spPr>
      </p:cxnSp>
      <p:cxnSp>
        <p:nvCxnSpPr>
          <p:cNvPr id="51" name="直接箭头连接符 37"/>
          <p:cNvCxnSpPr>
            <a:stCxn id="9" idx="3"/>
            <a:endCxn id="10" idx="1"/>
          </p:cNvCxnSpPr>
          <p:nvPr/>
        </p:nvCxnSpPr>
        <p:spPr>
          <a:xfrm>
            <a:off x="8629650" y="2581275"/>
            <a:ext cx="952500" cy="0"/>
          </a:xfrm>
          <a:prstGeom prst="straightConnector1">
            <a:avLst/>
          </a:prstGeom>
          <a:ln w="19050">
            <a:solidFill>
              <a:srgbClr val="1C8C64"/>
            </a:solidFill>
            <a:prstDash val="solid"/>
            <a:headEnd type="arrow" w="med" len="med"/>
          </a:ln>
        </p:spPr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94F8233-3B48-4A29-8A14-85936DC7A298}"/>
              </a:ext>
            </a:extLst>
          </p:cNvPr>
          <p:cNvSpPr>
            <a:spLocks noGrp="1"/>
          </p:cNvSpPr>
          <p:nvPr/>
        </p:nvSpPr>
        <p:spPr>
          <a:xfrm>
            <a:off x="895350" y="3752849"/>
            <a:ext cx="3256702" cy="165735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9D6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A86810E-251A-4D73-BEED-7D79E8ED4C18}"/>
              </a:ext>
            </a:extLst>
          </p:cNvPr>
          <p:cNvSpPr>
            <a:spLocks noGrp="1"/>
          </p:cNvSpPr>
          <p:nvPr/>
        </p:nvSpPr>
        <p:spPr>
          <a:xfrm>
            <a:off x="895350" y="3752850"/>
            <a:ext cx="90139" cy="1679356"/>
          </a:xfrm>
          <a:prstGeom prst="rect">
            <a:avLst/>
          </a:prstGeom>
          <a:solidFill>
            <a:srgbClr val="004A98"/>
          </a:solidFill>
          <a:ln w="0">
            <a:solidFill>
              <a:srgbClr val="004A98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DDECC5C-8394-4CB6-AB7E-C0E37EEAF2BD}"/>
              </a:ext>
            </a:extLst>
          </p:cNvPr>
          <p:cNvSpPr>
            <a:spLocks noGrp="1"/>
          </p:cNvSpPr>
          <p:nvPr/>
        </p:nvSpPr>
        <p:spPr>
          <a:xfrm>
            <a:off x="1104900" y="3905250"/>
            <a:ext cx="2724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接口层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A146E86-849D-4E36-B7BB-814BA03B7955}"/>
              </a:ext>
            </a:extLst>
          </p:cNvPr>
          <p:cNvSpPr>
            <a:spLocks noGrp="1"/>
          </p:cNvSpPr>
          <p:nvPr/>
        </p:nvSpPr>
        <p:spPr>
          <a:xfrm>
            <a:off x="1123950" y="4286250"/>
            <a:ext cx="2686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0" rIns="28575" bIns="0"/>
          <a:lstStyle/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AgentController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HostMetricController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ServiceReportController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AlertController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DemoSeedController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4ADA26B-A852-46CC-8FDA-63EDFFDA370D}"/>
              </a:ext>
            </a:extLst>
          </p:cNvPr>
          <p:cNvSpPr>
            <a:spLocks noGrp="1"/>
          </p:cNvSpPr>
          <p:nvPr/>
        </p:nvSpPr>
        <p:spPr>
          <a:xfrm>
            <a:off x="4533899" y="3752849"/>
            <a:ext cx="3256703" cy="1679359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9D6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D01DC40-3ED1-4612-A72C-6885CD892394}"/>
              </a:ext>
            </a:extLst>
          </p:cNvPr>
          <p:cNvSpPr>
            <a:spLocks noGrp="1"/>
          </p:cNvSpPr>
          <p:nvPr/>
        </p:nvSpPr>
        <p:spPr>
          <a:xfrm>
            <a:off x="4533900" y="3752850"/>
            <a:ext cx="90139" cy="1679356"/>
          </a:xfrm>
          <a:prstGeom prst="rect">
            <a:avLst/>
          </a:prstGeom>
          <a:solidFill>
            <a:srgbClr val="C89B3C"/>
          </a:solidFill>
          <a:ln w="0">
            <a:solidFill>
              <a:srgbClr val="C89B3C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0D02A2F-FFB1-458A-87D3-9707845BFD8A}"/>
              </a:ext>
            </a:extLst>
          </p:cNvPr>
          <p:cNvSpPr>
            <a:spLocks noGrp="1"/>
          </p:cNvSpPr>
          <p:nvPr/>
        </p:nvSpPr>
        <p:spPr>
          <a:xfrm>
            <a:off x="4743450" y="3905250"/>
            <a:ext cx="2724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业务层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20D2747-6309-4C32-8CAE-3EF31376BE8D}"/>
              </a:ext>
            </a:extLst>
          </p:cNvPr>
          <p:cNvSpPr>
            <a:spLocks noGrp="1"/>
          </p:cNvSpPr>
          <p:nvPr/>
        </p:nvSpPr>
        <p:spPr>
          <a:xfrm>
            <a:off x="4762500" y="4286250"/>
            <a:ext cx="2686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0" rIns="28575" bIns="0"/>
          <a:lstStyle/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AgentRegistry：注册与认证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HostMetricIngestionService：指标入库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AlertService：告警判断与 ACK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DemoDataSeeder：演示数据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A2A72B8-8D06-490B-AB43-EB48A68B9C9F}"/>
              </a:ext>
            </a:extLst>
          </p:cNvPr>
          <p:cNvSpPr>
            <a:spLocks noGrp="1"/>
          </p:cNvSpPr>
          <p:nvPr/>
        </p:nvSpPr>
        <p:spPr>
          <a:xfrm>
            <a:off x="8172450" y="3752849"/>
            <a:ext cx="3256702" cy="1679357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9D6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887214E-C0B2-48C7-B457-D013E8DEBCB6}"/>
              </a:ext>
            </a:extLst>
          </p:cNvPr>
          <p:cNvSpPr>
            <a:spLocks noGrp="1"/>
          </p:cNvSpPr>
          <p:nvPr/>
        </p:nvSpPr>
        <p:spPr>
          <a:xfrm>
            <a:off x="8172450" y="3752850"/>
            <a:ext cx="90139" cy="1679356"/>
          </a:xfrm>
          <a:prstGeom prst="rect">
            <a:avLst/>
          </a:prstGeom>
          <a:solidFill>
            <a:srgbClr val="1C8C64"/>
          </a:solidFill>
          <a:ln w="0">
            <a:solidFill>
              <a:srgbClr val="1C8C64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46060B8-D432-41B8-926B-D187D25A04A0}"/>
              </a:ext>
            </a:extLst>
          </p:cNvPr>
          <p:cNvSpPr>
            <a:spLocks noGrp="1"/>
          </p:cNvSpPr>
          <p:nvPr/>
        </p:nvSpPr>
        <p:spPr>
          <a:xfrm>
            <a:off x="8382000" y="3905250"/>
            <a:ext cx="2724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持久层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F86F5D0-C86E-4C2F-9CB3-5CE90C3F321D}"/>
              </a:ext>
            </a:extLst>
          </p:cNvPr>
          <p:cNvSpPr>
            <a:spLocks noGrp="1"/>
          </p:cNvSpPr>
          <p:nvPr/>
        </p:nvSpPr>
        <p:spPr>
          <a:xfrm>
            <a:off x="8401050" y="4286250"/>
            <a:ext cx="2686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0" rIns="28575" bIns="0"/>
          <a:lstStyle/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JdbcAgentRepository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JdbcHostMetricRepository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JdbcServiceRepository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JdbcAlertRepository</a:t>
            </a:r>
          </a:p>
        </p:txBody>
      </p:sp>
    </p:spTree>
    <p:extLst>
      <p:ext uri="{BB962C8B-B14F-4D97-AF65-F5344CB8AC3E}">
        <p14:creationId xmlns:p14="http://schemas.microsoft.com/office/powerpoint/2010/main" val="257629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F153C432-1200-4A98-8E17-232A3E8DB882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软件工程课程设计</a:t>
            </a:r>
            <a:endParaRPr sz="1125" b="1" dirty="0">
              <a:solidFill>
                <a:srgbClr val="004A9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DFC4CCA-65A1-4FB4-9DC1-8F0BDC21B02F}"/>
              </a:ext>
            </a:extLst>
          </p:cNvPr>
          <p:cNvSpPr>
            <a:spLocks noGrp="1"/>
          </p:cNvSpPr>
          <p:nvPr/>
        </p:nvSpPr>
        <p:spPr>
          <a:xfrm>
            <a:off x="11049000" y="22860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8A56D817-351B-4BB5-B0DD-B173C9538248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1087100" cy="0"/>
          </a:xfrm>
          <a:prstGeom prst="line">
            <a:avLst/>
          </a:prstGeom>
          <a:noFill/>
          <a:ln w="11430">
            <a:solidFill>
              <a:srgbClr val="D7E2E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176E92-0D41-4C41-B457-3EC3E2E9877D}"/>
              </a:ext>
            </a:extLst>
          </p:cNvPr>
          <p:cNvSpPr>
            <a:spLocks noGrp="1"/>
          </p:cNvSpPr>
          <p:nvPr/>
        </p:nvSpPr>
        <p:spPr>
          <a:xfrm>
            <a:off x="552450" y="762000"/>
            <a:ext cx="809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核心实现：Vue 前端监控台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16A4A5-B55E-421C-B760-3F381DC92E95}"/>
              </a:ext>
            </a:extLst>
          </p:cNvPr>
          <p:cNvSpPr>
            <a:spLocks noGrp="1"/>
          </p:cNvSpPr>
          <p:nvPr/>
        </p:nvSpPr>
        <p:spPr>
          <a:xfrm>
            <a:off x="571500" y="1200150"/>
            <a:ext cx="828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页面围绕运维查看路径组织：总览 -&gt; 主机 -&gt; 服务 -&gt; 告警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66321E-2B9B-4A10-A77C-CA37778D1394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AegisMonitor 一体化监控平台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6B3585E-BBBE-4750-801A-4BBC2AF214B4}"/>
              </a:ext>
            </a:extLst>
          </p:cNvPr>
          <p:cNvSpPr>
            <a:spLocks noGrp="1"/>
          </p:cNvSpPr>
          <p:nvPr/>
        </p:nvSpPr>
        <p:spPr>
          <a:xfrm>
            <a:off x="685799" y="1581149"/>
            <a:ext cx="2807563" cy="1543045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C9D6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DB434E-19E5-4DC7-B9DF-373AFC4609A7}"/>
              </a:ext>
            </a:extLst>
          </p:cNvPr>
          <p:cNvSpPr>
            <a:spLocks noGrp="1"/>
          </p:cNvSpPr>
          <p:nvPr/>
        </p:nvSpPr>
        <p:spPr>
          <a:xfrm>
            <a:off x="685800" y="1581149"/>
            <a:ext cx="71206" cy="1543045"/>
          </a:xfrm>
          <a:prstGeom prst="rect">
            <a:avLst/>
          </a:prstGeom>
          <a:solidFill>
            <a:srgbClr val="004A98"/>
          </a:solidFill>
          <a:ln w="0">
            <a:solidFill>
              <a:srgbClr val="004A9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DF228B7-7CAA-4D13-9873-0595A4374367}"/>
              </a:ext>
            </a:extLst>
          </p:cNvPr>
          <p:cNvSpPr>
            <a:spLocks noGrp="1"/>
          </p:cNvSpPr>
          <p:nvPr/>
        </p:nvSpPr>
        <p:spPr>
          <a:xfrm>
            <a:off x="895350" y="1733550"/>
            <a:ext cx="2209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页面路由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1DD0E4-FC89-4483-B935-F96BA037B092}"/>
              </a:ext>
            </a:extLst>
          </p:cNvPr>
          <p:cNvSpPr>
            <a:spLocks noGrp="1"/>
          </p:cNvSpPr>
          <p:nvPr/>
        </p:nvSpPr>
        <p:spPr>
          <a:xfrm>
            <a:off x="914400" y="2114550"/>
            <a:ext cx="21717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0" rIns="28575" bIns="0"/>
          <a:lstStyle/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/hosts 主机列表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/hosts/:id 主机详情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/services 服务组件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/alerts 告警中心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3C0F6D0-FED9-4853-B98A-12BEB217C240}"/>
              </a:ext>
            </a:extLst>
          </p:cNvPr>
          <p:cNvSpPr>
            <a:spLocks noGrp="1"/>
          </p:cNvSpPr>
          <p:nvPr/>
        </p:nvSpPr>
        <p:spPr>
          <a:xfrm>
            <a:off x="3638549" y="1581150"/>
            <a:ext cx="2657475" cy="154305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C9D6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E894822-3D79-4CAC-8DDB-802830AF9174}"/>
              </a:ext>
            </a:extLst>
          </p:cNvPr>
          <p:cNvSpPr>
            <a:spLocks noGrp="1"/>
          </p:cNvSpPr>
          <p:nvPr/>
        </p:nvSpPr>
        <p:spPr>
          <a:xfrm>
            <a:off x="3638550" y="1581150"/>
            <a:ext cx="85725" cy="1543050"/>
          </a:xfrm>
          <a:prstGeom prst="rect">
            <a:avLst/>
          </a:prstGeom>
          <a:solidFill>
            <a:srgbClr val="1C8C64"/>
          </a:solidFill>
          <a:ln w="0">
            <a:solidFill>
              <a:srgbClr val="1C8C64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731687-2C73-4F7E-880E-E3C049F67D77}"/>
              </a:ext>
            </a:extLst>
          </p:cNvPr>
          <p:cNvSpPr>
            <a:spLocks noGrp="1"/>
          </p:cNvSpPr>
          <p:nvPr/>
        </p:nvSpPr>
        <p:spPr>
          <a:xfrm>
            <a:off x="3848100" y="1733550"/>
            <a:ext cx="2209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A1C0A20-C94F-4929-991A-9F3976441949}"/>
              </a:ext>
            </a:extLst>
          </p:cNvPr>
          <p:cNvSpPr>
            <a:spLocks noGrp="1"/>
          </p:cNvSpPr>
          <p:nvPr/>
        </p:nvSpPr>
        <p:spPr>
          <a:xfrm>
            <a:off x="3867150" y="1977018"/>
            <a:ext cx="21717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0" rIns="28575" bIns="0"/>
          <a:lstStyle/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aegisApi.js 封装 API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hostDashboardStore.js 管理状态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refreshLoop.js 定时刷新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失败时保留上一份数据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2FAF7FE-965C-4981-8BAD-3D503D403CCE}"/>
              </a:ext>
            </a:extLst>
          </p:cNvPr>
          <p:cNvSpPr>
            <a:spLocks noGrp="1"/>
          </p:cNvSpPr>
          <p:nvPr/>
        </p:nvSpPr>
        <p:spPr>
          <a:xfrm>
            <a:off x="6591299" y="1581149"/>
            <a:ext cx="2807563" cy="1543045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C9D6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DC60E04-F27D-439D-9ADC-2BF21596214C}"/>
              </a:ext>
            </a:extLst>
          </p:cNvPr>
          <p:cNvSpPr>
            <a:spLocks noGrp="1"/>
          </p:cNvSpPr>
          <p:nvPr/>
        </p:nvSpPr>
        <p:spPr>
          <a:xfrm>
            <a:off x="6591300" y="1581149"/>
            <a:ext cx="71206" cy="1543045"/>
          </a:xfrm>
          <a:prstGeom prst="rect">
            <a:avLst/>
          </a:prstGeom>
          <a:solidFill>
            <a:srgbClr val="C89B3C"/>
          </a:solidFill>
          <a:ln w="0">
            <a:solidFill>
              <a:srgbClr val="C89B3C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4BE5A4B-5560-46E0-B9D5-C2BAC31DFACB}"/>
              </a:ext>
            </a:extLst>
          </p:cNvPr>
          <p:cNvSpPr>
            <a:spLocks noGrp="1"/>
          </p:cNvSpPr>
          <p:nvPr/>
        </p:nvSpPr>
        <p:spPr>
          <a:xfrm>
            <a:off x="6800850" y="1733550"/>
            <a:ext cx="2209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展示重点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802B7A6-9493-4ED4-88E8-A319181D692B}"/>
              </a:ext>
            </a:extLst>
          </p:cNvPr>
          <p:cNvSpPr>
            <a:spLocks noGrp="1"/>
          </p:cNvSpPr>
          <p:nvPr/>
        </p:nvSpPr>
        <p:spPr>
          <a:xfrm>
            <a:off x="6819900" y="2114550"/>
            <a:ext cx="21717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0" rIns="28575" bIns="0"/>
          <a:lstStyle/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真实/模拟主机标签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CPU/内存/磁盘/网卡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多时间范围曲线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ACK 表单校验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82FDAF7-07E9-4BDA-8050-B358B6E5C2FC}"/>
              </a:ext>
            </a:extLst>
          </p:cNvPr>
          <p:cNvSpPr>
            <a:spLocks noGrp="1"/>
          </p:cNvSpPr>
          <p:nvPr/>
        </p:nvSpPr>
        <p:spPr>
          <a:xfrm>
            <a:off x="9544050" y="1581149"/>
            <a:ext cx="2095500" cy="1543045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C9D6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33F053-1922-441F-8D92-F6043102DA0B}"/>
              </a:ext>
            </a:extLst>
          </p:cNvPr>
          <p:cNvSpPr>
            <a:spLocks noGrp="1"/>
          </p:cNvSpPr>
          <p:nvPr/>
        </p:nvSpPr>
        <p:spPr>
          <a:xfrm>
            <a:off x="9544050" y="1581149"/>
            <a:ext cx="71206" cy="1543045"/>
          </a:xfrm>
          <a:prstGeom prst="rect">
            <a:avLst/>
          </a:prstGeom>
          <a:solidFill>
            <a:srgbClr val="B3262E"/>
          </a:solidFill>
          <a:ln w="0">
            <a:solidFill>
              <a:srgbClr val="B3262E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5EA6547-F584-401C-8D37-BFCD6EAB2425}"/>
              </a:ext>
            </a:extLst>
          </p:cNvPr>
          <p:cNvSpPr>
            <a:spLocks noGrp="1"/>
          </p:cNvSpPr>
          <p:nvPr/>
        </p:nvSpPr>
        <p:spPr>
          <a:xfrm>
            <a:off x="9753600" y="1733550"/>
            <a:ext cx="1543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演示能力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6221046-AC75-4600-871B-42AEDCACFBE7}"/>
              </a:ext>
            </a:extLst>
          </p:cNvPr>
          <p:cNvSpPr>
            <a:spLocks noGrp="1"/>
          </p:cNvSpPr>
          <p:nvPr/>
        </p:nvSpPr>
        <p:spPr>
          <a:xfrm>
            <a:off x="9772650" y="2114550"/>
            <a:ext cx="15049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0" rIns="28575" bIns="0"/>
          <a:lstStyle/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Demo seed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静默刷新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多主机列表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告警复位</a:t>
            </a:r>
          </a:p>
        </p:txBody>
      </p:sp>
      <p:pic>
        <p:nvPicPr>
          <p:cNvPr id="51" name="图片 4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68067" y="3486150"/>
            <a:ext cx="4207565" cy="2419350"/>
          </a:xfrm>
          <a:prstGeom prst="roundRect">
            <a:avLst/>
          </a:prstGeom>
        </p:spPr>
      </p:pic>
      <p:pic>
        <p:nvPicPr>
          <p:cNvPr id="52" name="图片 4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19850" y="3496616"/>
            <a:ext cx="4800600" cy="2398417"/>
          </a:xfrm>
          <a:prstGeom prst="round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35BE7EE9-1BEC-4D49-A8EC-DA3D22D65A25}"/>
              </a:ext>
            </a:extLst>
          </p:cNvPr>
          <p:cNvSpPr>
            <a:spLocks noGrp="1"/>
          </p:cNvSpPr>
          <p:nvPr/>
        </p:nvSpPr>
        <p:spPr>
          <a:xfrm>
            <a:off x="1581150" y="59626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ctr">
              <a:lnSpc>
                <a:spcPct val="112000"/>
              </a:lnSpc>
              <a:buNone/>
              <a:defRPr sz="112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主机详情：实时快照 + 历史曲线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B4E7322-673E-4140-AB6F-A576A5868B9F}"/>
              </a:ext>
            </a:extLst>
          </p:cNvPr>
          <p:cNvSpPr>
            <a:spLocks noGrp="1"/>
          </p:cNvSpPr>
          <p:nvPr/>
        </p:nvSpPr>
        <p:spPr>
          <a:xfrm>
            <a:off x="7067550" y="59626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ctr">
              <a:lnSpc>
                <a:spcPct val="112000"/>
              </a:lnSpc>
              <a:buNone/>
              <a:defRPr sz="112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告警中心：ACK 后保留处理记录</a:t>
            </a:r>
          </a:p>
        </p:txBody>
      </p:sp>
    </p:spTree>
    <p:extLst>
      <p:ext uri="{BB962C8B-B14F-4D97-AF65-F5344CB8AC3E}">
        <p14:creationId xmlns:p14="http://schemas.microsoft.com/office/powerpoint/2010/main" val="724428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5A7DC95-713E-4C54-BFCE-06EE6AFA7B25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软件工程课程设计</a:t>
            </a:r>
            <a:endParaRPr sz="1125" b="1" dirty="0">
              <a:solidFill>
                <a:srgbClr val="004A9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EE0A9EF-E072-499E-AB05-C76D3EAD6C7B}"/>
              </a:ext>
            </a:extLst>
          </p:cNvPr>
          <p:cNvSpPr>
            <a:spLocks noGrp="1"/>
          </p:cNvSpPr>
          <p:nvPr/>
        </p:nvSpPr>
        <p:spPr>
          <a:xfrm>
            <a:off x="11049000" y="22860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4B470010-57D7-4FAF-A222-817AB6AD1B18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1087100" cy="0"/>
          </a:xfrm>
          <a:prstGeom prst="line">
            <a:avLst/>
          </a:prstGeom>
          <a:noFill/>
          <a:ln w="11430">
            <a:solidFill>
              <a:srgbClr val="D7E2E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C7C4EE7-305B-4DA1-82A2-670CB4C3C7BE}"/>
              </a:ext>
            </a:extLst>
          </p:cNvPr>
          <p:cNvSpPr>
            <a:spLocks noGrp="1"/>
          </p:cNvSpPr>
          <p:nvPr/>
        </p:nvSpPr>
        <p:spPr>
          <a:xfrm>
            <a:off x="552450" y="762000"/>
            <a:ext cx="809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运行结果：真实主机接入与指标曲线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D7E1A1D-6323-4D59-A8C4-52D2B57D9839}"/>
              </a:ext>
            </a:extLst>
          </p:cNvPr>
          <p:cNvSpPr>
            <a:spLocks noGrp="1"/>
          </p:cNvSpPr>
          <p:nvPr/>
        </p:nvSpPr>
        <p:spPr>
          <a:xfrm>
            <a:off x="571500" y="1200150"/>
            <a:ext cx="828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展示 Agent 上报后的主机列表与单机详情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E75077-1DB3-4CF7-90B6-4A3915CF9E67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AegisMonitor 一体化监控平台</a:t>
            </a:r>
          </a:p>
        </p:txBody>
      </p:sp>
      <p:pic>
        <p:nvPicPr>
          <p:cNvPr id="28" name="图片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1695437"/>
            <a:ext cx="4953000" cy="2781325"/>
          </a:xfrm>
          <a:prstGeom prst="roundRect">
            <a:avLst/>
          </a:prstGeom>
        </p:spPr>
      </p:pic>
      <p:pic>
        <p:nvPicPr>
          <p:cNvPr id="29" name="图片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15100" y="1662113"/>
            <a:ext cx="4953000" cy="2847975"/>
          </a:xfrm>
          <a:prstGeom prst="round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5906C5E-0720-4628-AE94-FD9F4BFC909F}"/>
              </a:ext>
            </a:extLst>
          </p:cNvPr>
          <p:cNvSpPr>
            <a:spLocks noGrp="1"/>
          </p:cNvSpPr>
          <p:nvPr/>
        </p:nvSpPr>
        <p:spPr>
          <a:xfrm>
            <a:off x="857250" y="485775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ctr">
              <a:lnSpc>
                <a:spcPct val="112000"/>
              </a:lnSpc>
              <a:buNone/>
              <a:defRPr sz="14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主机列表：真实节点与模拟节点并存，能区分来源与在线状态。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9C1492-633A-44EF-820F-2FD07C6BD82F}"/>
              </a:ext>
            </a:extLst>
          </p:cNvPr>
          <p:cNvSpPr>
            <a:spLocks noGrp="1"/>
          </p:cNvSpPr>
          <p:nvPr/>
        </p:nvSpPr>
        <p:spPr>
          <a:xfrm>
            <a:off x="6648450" y="485775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ctr">
              <a:lnSpc>
                <a:spcPct val="112000"/>
              </a:lnSpc>
              <a:buNone/>
              <a:defRPr sz="14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主机详情：CPU、内存、磁盘、网卡、TCP 和历史趋势来自后端接口。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7937466-382E-4B59-8575-E9BEAB8BB404}"/>
              </a:ext>
            </a:extLst>
          </p:cNvPr>
          <p:cNvSpPr>
            <a:spLocks noGrp="1"/>
          </p:cNvSpPr>
          <p:nvPr/>
        </p:nvSpPr>
        <p:spPr>
          <a:xfrm>
            <a:off x="2355462" y="5603488"/>
            <a:ext cx="18097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7E2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665F0E-51DA-47EE-8240-5F6FDCD9D8C6}"/>
              </a:ext>
            </a:extLst>
          </p:cNvPr>
          <p:cNvSpPr>
            <a:spLocks noGrp="1"/>
          </p:cNvSpPr>
          <p:nvPr/>
        </p:nvSpPr>
        <p:spPr>
          <a:xfrm>
            <a:off x="2536437" y="5774938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ctr">
              <a:lnSpc>
                <a:spcPct val="112000"/>
              </a:lnSpc>
              <a:buNone/>
              <a:defRPr sz="2325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2+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406689F-8A06-4C78-8A53-2346A151795F}"/>
              </a:ext>
            </a:extLst>
          </p:cNvPr>
          <p:cNvSpPr>
            <a:spLocks noGrp="1"/>
          </p:cNvSpPr>
          <p:nvPr/>
        </p:nvSpPr>
        <p:spPr>
          <a:xfrm>
            <a:off x="2536437" y="6213088"/>
            <a:ext cx="1619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ctr">
              <a:lnSpc>
                <a:spcPct val="112000"/>
              </a:lnSpc>
              <a:buNone/>
              <a:defRPr sz="112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真实主机接入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B831A4-8BDF-4C55-89F0-23C926850184}"/>
              </a:ext>
            </a:extLst>
          </p:cNvPr>
          <p:cNvSpPr>
            <a:spLocks noGrp="1"/>
          </p:cNvSpPr>
          <p:nvPr/>
        </p:nvSpPr>
        <p:spPr>
          <a:xfrm>
            <a:off x="5635431" y="577215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ctr">
              <a:lnSpc>
                <a:spcPct val="112000"/>
              </a:lnSpc>
              <a:buNone/>
              <a:defRPr sz="2325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defRPr>
            </a:pPr>
            <a:endParaRPr sz="2325" b="1" dirty="0">
              <a:solidFill>
                <a:srgbClr val="C89B3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732913A-E4F8-411B-9BEB-2B2631FE63F3}"/>
              </a:ext>
            </a:extLst>
          </p:cNvPr>
          <p:cNvSpPr>
            <a:spLocks noGrp="1"/>
          </p:cNvSpPr>
          <p:nvPr/>
        </p:nvSpPr>
        <p:spPr>
          <a:xfrm>
            <a:off x="8305800" y="5569198"/>
            <a:ext cx="18097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7E2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A05E2AA-5FFD-4756-BA0A-E961C21054A0}"/>
              </a:ext>
            </a:extLst>
          </p:cNvPr>
          <p:cNvSpPr>
            <a:spLocks noGrp="1"/>
          </p:cNvSpPr>
          <p:nvPr/>
        </p:nvSpPr>
        <p:spPr>
          <a:xfrm>
            <a:off x="8401050" y="5740648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ctr">
              <a:lnSpc>
                <a:spcPct val="112000"/>
              </a:lnSpc>
              <a:buNone/>
              <a:defRPr sz="2325" b="1">
                <a:solidFill>
                  <a:srgbClr val="1C8C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C8C64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AEA039B-D470-4C19-84F1-F22ED9FEC889}"/>
              </a:ext>
            </a:extLst>
          </p:cNvPr>
          <p:cNvSpPr>
            <a:spLocks noGrp="1"/>
          </p:cNvSpPr>
          <p:nvPr/>
        </p:nvSpPr>
        <p:spPr>
          <a:xfrm>
            <a:off x="8401050" y="6178798"/>
            <a:ext cx="1619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ctr">
              <a:lnSpc>
                <a:spcPct val="112000"/>
              </a:lnSpc>
              <a:buNone/>
              <a:defRPr sz="112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指标类型</a:t>
            </a:r>
          </a:p>
        </p:txBody>
      </p:sp>
    </p:spTree>
    <p:extLst>
      <p:ext uri="{BB962C8B-B14F-4D97-AF65-F5344CB8AC3E}">
        <p14:creationId xmlns:p14="http://schemas.microsoft.com/office/powerpoint/2010/main" val="1084329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3D08DE6-CEF5-4464-BFC0-88F9F53652E8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软件工程课程设计</a:t>
            </a:r>
            <a:endParaRPr sz="1125" b="1" dirty="0">
              <a:solidFill>
                <a:srgbClr val="004A9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CD2FEC-87DC-4F5D-9069-754EA1799499}"/>
              </a:ext>
            </a:extLst>
          </p:cNvPr>
          <p:cNvSpPr>
            <a:spLocks noGrp="1"/>
          </p:cNvSpPr>
          <p:nvPr/>
        </p:nvSpPr>
        <p:spPr>
          <a:xfrm>
            <a:off x="11049000" y="22860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E60C3B0D-459D-4032-B634-4C5671F5FFE7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1087100" cy="0"/>
          </a:xfrm>
          <a:prstGeom prst="line">
            <a:avLst/>
          </a:prstGeom>
          <a:noFill/>
          <a:ln w="11430">
            <a:solidFill>
              <a:srgbClr val="D7E2E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3DF49F7-F9B3-48A7-BFE3-89E768271401}"/>
              </a:ext>
            </a:extLst>
          </p:cNvPr>
          <p:cNvSpPr>
            <a:spLocks noGrp="1"/>
          </p:cNvSpPr>
          <p:nvPr/>
        </p:nvSpPr>
        <p:spPr>
          <a:xfrm>
            <a:off x="552450" y="762000"/>
            <a:ext cx="809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运行结果：服务组件与告警 ACK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222445-3714-40FC-960D-461053748369}"/>
              </a:ext>
            </a:extLst>
          </p:cNvPr>
          <p:cNvSpPr>
            <a:spLocks noGrp="1"/>
          </p:cNvSpPr>
          <p:nvPr/>
        </p:nvSpPr>
        <p:spPr>
          <a:xfrm>
            <a:off x="571500" y="1200150"/>
            <a:ext cx="828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从服务发现到告警确认，展示运维闭环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E398C5-9459-4372-9B3A-ACE504874AC9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AegisMonitor 一体化监控平台</a:t>
            </a:r>
          </a:p>
        </p:txBody>
      </p:sp>
      <p:pic>
        <p:nvPicPr>
          <p:cNvPr id="28" name="图片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838990"/>
            <a:ext cx="3390900" cy="1694120"/>
          </a:xfrm>
          <a:prstGeom prst="roundRect">
            <a:avLst/>
          </a:prstGeom>
        </p:spPr>
      </p:pic>
      <p:pic>
        <p:nvPicPr>
          <p:cNvPr id="29" name="图片 2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00550" y="1838990"/>
            <a:ext cx="3390900" cy="1694120"/>
          </a:xfrm>
          <a:prstGeom prst="roundRect">
            <a:avLst/>
          </a:prstGeom>
        </p:spPr>
      </p:pic>
      <p:pic>
        <p:nvPicPr>
          <p:cNvPr id="30" name="图片 2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115300" y="1838990"/>
            <a:ext cx="3390900" cy="1694120"/>
          </a:xfrm>
          <a:prstGeom prst="round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10FF71D9-C2EE-460D-BF91-FD6D2E552200}"/>
              </a:ext>
            </a:extLst>
          </p:cNvPr>
          <p:cNvSpPr>
            <a:spLocks noGrp="1"/>
          </p:cNvSpPr>
          <p:nvPr/>
        </p:nvSpPr>
        <p:spPr>
          <a:xfrm>
            <a:off x="1047750" y="4171950"/>
            <a:ext cx="76200" cy="285750"/>
          </a:xfrm>
          <a:prstGeom prst="rect">
            <a:avLst/>
          </a:prstGeom>
          <a:solidFill>
            <a:srgbClr val="004A98"/>
          </a:solidFill>
          <a:ln w="0">
            <a:solidFill>
              <a:srgbClr val="004A9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9DEAD5F-E714-47B4-96A2-69D147C99F19}"/>
              </a:ext>
            </a:extLst>
          </p:cNvPr>
          <p:cNvSpPr>
            <a:spLocks noGrp="1"/>
          </p:cNvSpPr>
          <p:nvPr/>
        </p:nvSpPr>
        <p:spPr>
          <a:xfrm>
            <a:off x="1219200" y="4181475"/>
            <a:ext cx="2114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服务发现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34B3531-55CE-4BE6-A129-EAA9495EFBC0}"/>
              </a:ext>
            </a:extLst>
          </p:cNvPr>
          <p:cNvSpPr>
            <a:spLocks noGrp="1"/>
          </p:cNvSpPr>
          <p:nvPr/>
        </p:nvSpPr>
        <p:spPr>
          <a:xfrm>
            <a:off x="1047750" y="4572000"/>
            <a:ext cx="2571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Agent 根据进程名、命令行和监听端口识别组件，并显示 PID、端口、进程 CPU/内存。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1288A29-8994-4482-A411-BB29EA1DEE77}"/>
              </a:ext>
            </a:extLst>
          </p:cNvPr>
          <p:cNvSpPr>
            <a:spLocks noGrp="1"/>
          </p:cNvSpPr>
          <p:nvPr/>
        </p:nvSpPr>
        <p:spPr>
          <a:xfrm>
            <a:off x="4762500" y="4171950"/>
            <a:ext cx="76200" cy="285750"/>
          </a:xfrm>
          <a:prstGeom prst="rect">
            <a:avLst/>
          </a:prstGeom>
          <a:solidFill>
            <a:srgbClr val="B3262E"/>
          </a:solidFill>
          <a:ln w="0">
            <a:solidFill>
              <a:srgbClr val="B3262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057EB19-6ABF-4BA7-8865-171418541217}"/>
              </a:ext>
            </a:extLst>
          </p:cNvPr>
          <p:cNvSpPr>
            <a:spLocks noGrp="1"/>
          </p:cNvSpPr>
          <p:nvPr/>
        </p:nvSpPr>
        <p:spPr>
          <a:xfrm>
            <a:off x="4933950" y="4181475"/>
            <a:ext cx="2114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告警触发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3DAE662-D110-456A-AEE8-60AB09DD3888}"/>
              </a:ext>
            </a:extLst>
          </p:cNvPr>
          <p:cNvSpPr>
            <a:spLocks noGrp="1"/>
          </p:cNvSpPr>
          <p:nvPr/>
        </p:nvSpPr>
        <p:spPr>
          <a:xfrm>
            <a:off x="4762500" y="4572000"/>
            <a:ext cx="2571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后端按 CPU、内存、TCP 阈值生成告警，用 Demo seed 和压力测试稳定演示 OPEN。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9C12E1F-DDB9-4B76-BB27-52A5CBE87B8A}"/>
              </a:ext>
            </a:extLst>
          </p:cNvPr>
          <p:cNvSpPr>
            <a:spLocks noGrp="1"/>
          </p:cNvSpPr>
          <p:nvPr/>
        </p:nvSpPr>
        <p:spPr>
          <a:xfrm>
            <a:off x="8477250" y="4171950"/>
            <a:ext cx="76200" cy="285750"/>
          </a:xfrm>
          <a:prstGeom prst="rect">
            <a:avLst/>
          </a:prstGeom>
          <a:solidFill>
            <a:srgbClr val="1C8C64"/>
          </a:solidFill>
          <a:ln w="0">
            <a:solidFill>
              <a:srgbClr val="1C8C6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9E9EDE2-E853-4D24-955F-4D80CD77E544}"/>
              </a:ext>
            </a:extLst>
          </p:cNvPr>
          <p:cNvSpPr>
            <a:spLocks noGrp="1"/>
          </p:cNvSpPr>
          <p:nvPr/>
        </p:nvSpPr>
        <p:spPr>
          <a:xfrm>
            <a:off x="8648700" y="4181475"/>
            <a:ext cx="2114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B1090E0-E379-41BD-8731-5D0633E3D520}"/>
              </a:ext>
            </a:extLst>
          </p:cNvPr>
          <p:cNvSpPr>
            <a:spLocks noGrp="1"/>
          </p:cNvSpPr>
          <p:nvPr/>
        </p:nvSpPr>
        <p:spPr>
          <a:xfrm>
            <a:off x="8477250" y="4572000"/>
            <a:ext cx="2571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点击 ACK 后保存确认人、确认时间和处理备注，状态变为 ACKED。</a:t>
            </a:r>
          </a:p>
        </p:txBody>
      </p:sp>
    </p:spTree>
    <p:extLst>
      <p:ext uri="{BB962C8B-B14F-4D97-AF65-F5344CB8AC3E}">
        <p14:creationId xmlns:p14="http://schemas.microsoft.com/office/powerpoint/2010/main" val="459771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CCB4552-DD3F-4BD1-9DFF-6ABF30E1AA36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软件工程课程设计</a:t>
            </a:r>
            <a:endParaRPr sz="1125" b="1" dirty="0">
              <a:solidFill>
                <a:srgbClr val="004A9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1258DE-6782-43BF-B120-25BF1B1D950B}"/>
              </a:ext>
            </a:extLst>
          </p:cNvPr>
          <p:cNvSpPr>
            <a:spLocks noGrp="1"/>
          </p:cNvSpPr>
          <p:nvPr/>
        </p:nvSpPr>
        <p:spPr>
          <a:xfrm>
            <a:off x="11049000" y="22860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F08BB272-5B14-441C-9EB7-C021342220C7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1087100" cy="0"/>
          </a:xfrm>
          <a:prstGeom prst="line">
            <a:avLst/>
          </a:prstGeom>
          <a:noFill/>
          <a:ln w="11430">
            <a:solidFill>
              <a:srgbClr val="D7E2E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D56B781-62C6-4C3A-980D-924AEF40DEAE}"/>
              </a:ext>
            </a:extLst>
          </p:cNvPr>
          <p:cNvSpPr>
            <a:spLocks noGrp="1"/>
          </p:cNvSpPr>
          <p:nvPr/>
        </p:nvSpPr>
        <p:spPr>
          <a:xfrm>
            <a:off x="552450" y="762000"/>
            <a:ext cx="809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测试与验收结果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196B3C-6C4B-4B43-926E-3F62C403D1C2}"/>
              </a:ext>
            </a:extLst>
          </p:cNvPr>
          <p:cNvSpPr>
            <a:spLocks noGrp="1"/>
          </p:cNvSpPr>
          <p:nvPr/>
        </p:nvSpPr>
        <p:spPr>
          <a:xfrm>
            <a:off x="571500" y="1200150"/>
            <a:ext cx="828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Agent、后端、前端均有自动化测试和端到端截图记录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52D6C7A-1D29-47BB-B07B-954860D1E37E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AegisMonitor 一体化监控平台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="876300" y="1657350"/>
          <a:ext cx="495300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矩形: 圆角 7">
            <a:extLst>
              <a:ext uri="{FF2B5EF4-FFF2-40B4-BE49-F238E27FC236}">
                <a16:creationId xmlns:a16="http://schemas.microsoft.com/office/drawing/2014/main" id="{0B37556F-ECF6-4774-B0E9-81CC22B8325A}"/>
              </a:ext>
            </a:extLst>
          </p:cNvPr>
          <p:cNvSpPr>
            <a:spLocks noGrp="1"/>
          </p:cNvSpPr>
          <p:nvPr/>
        </p:nvSpPr>
        <p:spPr>
          <a:xfrm>
            <a:off x="6877050" y="1695450"/>
            <a:ext cx="19050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7E2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DEE4080-2F93-4429-B773-A3D61B9C95D0}"/>
              </a:ext>
            </a:extLst>
          </p:cNvPr>
          <p:cNvSpPr>
            <a:spLocks noGrp="1"/>
          </p:cNvSpPr>
          <p:nvPr/>
        </p:nvSpPr>
        <p:spPr>
          <a:xfrm>
            <a:off x="6972300" y="18669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ctr">
              <a:lnSpc>
                <a:spcPct val="112000"/>
              </a:lnSpc>
              <a:buNone/>
              <a:defRPr sz="2325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69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291C20F-DC1A-4E17-977C-ED88D713FCA3}"/>
              </a:ext>
            </a:extLst>
          </p:cNvPr>
          <p:cNvSpPr>
            <a:spLocks noGrp="1"/>
          </p:cNvSpPr>
          <p:nvPr/>
        </p:nvSpPr>
        <p:spPr>
          <a:xfrm>
            <a:off x="6972300" y="23050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ctr">
              <a:lnSpc>
                <a:spcPct val="112000"/>
              </a:lnSpc>
              <a:buNone/>
              <a:defRPr sz="112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自动化测试通过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EA97481-7B42-43D9-B16C-0B0CC5879235}"/>
              </a:ext>
            </a:extLst>
          </p:cNvPr>
          <p:cNvSpPr>
            <a:spLocks noGrp="1"/>
          </p:cNvSpPr>
          <p:nvPr/>
        </p:nvSpPr>
        <p:spPr>
          <a:xfrm>
            <a:off x="9239250" y="1695450"/>
            <a:ext cx="16192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7E2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7206E03-6632-4243-90E1-5D9EE88502F2}"/>
              </a:ext>
            </a:extLst>
          </p:cNvPr>
          <p:cNvSpPr>
            <a:spLocks noGrp="1"/>
          </p:cNvSpPr>
          <p:nvPr/>
        </p:nvSpPr>
        <p:spPr>
          <a:xfrm>
            <a:off x="9334500" y="186690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ctr">
              <a:lnSpc>
                <a:spcPct val="112000"/>
              </a:lnSpc>
              <a:buNone/>
              <a:defRPr sz="2325" b="1">
                <a:solidFill>
                  <a:srgbClr val="1C8C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C8C64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34B7C0C-EBDE-41BB-8C12-9AE0BEFD1184}"/>
              </a:ext>
            </a:extLst>
          </p:cNvPr>
          <p:cNvSpPr>
            <a:spLocks noGrp="1"/>
          </p:cNvSpPr>
          <p:nvPr/>
        </p:nvSpPr>
        <p:spPr>
          <a:xfrm>
            <a:off x="9334500" y="2305050"/>
            <a:ext cx="1428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ctr">
              <a:lnSpc>
                <a:spcPct val="112000"/>
              </a:lnSpc>
              <a:buNone/>
              <a:defRPr sz="112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失败用例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0F9DF1D-FEFE-4EEE-8EDE-7818B6C8F0DA}"/>
              </a:ext>
            </a:extLst>
          </p:cNvPr>
          <p:cNvSpPr>
            <a:spLocks noGrp="1"/>
          </p:cNvSpPr>
          <p:nvPr/>
        </p:nvSpPr>
        <p:spPr>
          <a:xfrm>
            <a:off x="6724650" y="2876551"/>
            <a:ext cx="4446270" cy="186689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C9D6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575964-0A15-4E6C-8B01-3348D5CDD5A0}"/>
              </a:ext>
            </a:extLst>
          </p:cNvPr>
          <p:cNvSpPr>
            <a:spLocks noGrp="1"/>
          </p:cNvSpPr>
          <p:nvPr/>
        </p:nvSpPr>
        <p:spPr>
          <a:xfrm>
            <a:off x="6724650" y="2876550"/>
            <a:ext cx="95250" cy="1866897"/>
          </a:xfrm>
          <a:prstGeom prst="rect">
            <a:avLst/>
          </a:prstGeom>
          <a:solidFill>
            <a:srgbClr val="004A98"/>
          </a:solidFill>
          <a:ln w="0">
            <a:solidFill>
              <a:srgbClr val="004A98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B40BC00-2889-4ADD-AD87-14DF336175C0}"/>
              </a:ext>
            </a:extLst>
          </p:cNvPr>
          <p:cNvSpPr>
            <a:spLocks noGrp="1"/>
          </p:cNvSpPr>
          <p:nvPr/>
        </p:nvSpPr>
        <p:spPr>
          <a:xfrm>
            <a:off x="6934200" y="3028951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覆盖重点</a:t>
            </a:r>
            <a:endParaRPr sz="1575" b="1" dirty="0">
              <a:solidFill>
                <a:srgbClr val="17203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079C03A-BFD2-42AC-AF3A-72C860E6D63C}"/>
              </a:ext>
            </a:extLst>
          </p:cNvPr>
          <p:cNvSpPr>
            <a:spLocks noGrp="1"/>
          </p:cNvSpPr>
          <p:nvPr/>
        </p:nvSpPr>
        <p:spPr>
          <a:xfrm>
            <a:off x="6953250" y="3409951"/>
            <a:ext cx="38671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0" rIns="28575" bIns="0"/>
          <a:lstStyle/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dirty="0" err="1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Agent：配置、注册、心跳、采集、服务上报、断线重试</a:t>
            </a:r>
            <a:endParaRPr sz="1275" dirty="0">
              <a:solidFill>
                <a:srgbClr val="5D6B82"/>
              </a:solidFill>
              <a:latin typeface="Microsoft YaHei"/>
              <a:ea typeface="Microsoft YaHei"/>
              <a:cs typeface="Microsoft YaHei"/>
            </a:endParaRP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dirty="0" err="1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后端：认证、历史指标、磁盘网卡、服务、告警</a:t>
            </a:r>
            <a:r>
              <a:rPr sz="1275" dirty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 ACK、JDBC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dirty="0" err="1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前端：API</a:t>
            </a:r>
            <a:r>
              <a:rPr sz="1275" dirty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75" dirty="0" err="1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adapter、store、多时间范围、ACK、静默刷新</a:t>
            </a:r>
            <a:endParaRPr sz="1275" dirty="0">
              <a:solidFill>
                <a:srgbClr val="5D6B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40D3DEA-1E81-40D6-8F28-82F24EB49D88}"/>
              </a:ext>
            </a:extLst>
          </p:cNvPr>
          <p:cNvSpPr>
            <a:spLocks noGrp="1"/>
          </p:cNvSpPr>
          <p:nvPr/>
        </p:nvSpPr>
        <p:spPr>
          <a:xfrm>
            <a:off x="1238250" y="5010149"/>
            <a:ext cx="9601200" cy="9165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9D6E6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17EF535-8A85-4CA2-AA1C-0AD339C0E8D7}"/>
              </a:ext>
            </a:extLst>
          </p:cNvPr>
          <p:cNvSpPr>
            <a:spLocks noGrp="1"/>
          </p:cNvSpPr>
          <p:nvPr/>
        </p:nvSpPr>
        <p:spPr>
          <a:xfrm>
            <a:off x="1238250" y="5010150"/>
            <a:ext cx="114300" cy="916516"/>
          </a:xfrm>
          <a:prstGeom prst="rect">
            <a:avLst/>
          </a:prstGeom>
          <a:solidFill>
            <a:srgbClr val="1C8C64"/>
          </a:solidFill>
          <a:ln w="0">
            <a:solidFill>
              <a:srgbClr val="1C8C64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35A1DBF-B68B-4F5D-B688-E628AF1EF241}"/>
              </a:ext>
            </a:extLst>
          </p:cNvPr>
          <p:cNvSpPr>
            <a:spLocks noGrp="1"/>
          </p:cNvSpPr>
          <p:nvPr/>
        </p:nvSpPr>
        <p:spPr>
          <a:xfrm>
            <a:off x="1447800" y="5162550"/>
            <a:ext cx="910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验收结论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C8E7C3A-61CC-4BF9-8576-EEF10906171F}"/>
              </a:ext>
            </a:extLst>
          </p:cNvPr>
          <p:cNvSpPr>
            <a:spLocks noGrp="1"/>
          </p:cNvSpPr>
          <p:nvPr/>
        </p:nvSpPr>
        <p:spPr>
          <a:xfrm>
            <a:off x="1447800" y="5543550"/>
            <a:ext cx="9105900" cy="5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6000"/>
              </a:lnSpc>
              <a:buNone/>
              <a:defRPr sz="1500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主链路、真实多主机截图、服务组件截图、告警 ACK 前后截图和 69 项自动化测试均已形成记录。</a:t>
            </a:r>
          </a:p>
        </p:txBody>
      </p:sp>
    </p:spTree>
    <p:extLst>
      <p:ext uri="{BB962C8B-B14F-4D97-AF65-F5344CB8AC3E}">
        <p14:creationId xmlns:p14="http://schemas.microsoft.com/office/powerpoint/2010/main" val="202406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925DC93-B083-4568-9D36-F238C62C5126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软件工程课程设计</a:t>
            </a:r>
            <a:endParaRPr sz="1125" b="1" dirty="0">
              <a:solidFill>
                <a:srgbClr val="004A9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DFE550-D164-4B3D-96CD-F71107F389E6}"/>
              </a:ext>
            </a:extLst>
          </p:cNvPr>
          <p:cNvSpPr>
            <a:spLocks noGrp="1"/>
          </p:cNvSpPr>
          <p:nvPr/>
        </p:nvSpPr>
        <p:spPr>
          <a:xfrm>
            <a:off x="11049000" y="22860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61FAAD84-E0CB-4317-826D-F7E19F8A5585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1087100" cy="0"/>
          </a:xfrm>
          <a:prstGeom prst="line">
            <a:avLst/>
          </a:prstGeom>
          <a:noFill/>
          <a:ln w="11430">
            <a:solidFill>
              <a:srgbClr val="D7E2E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F85056-9539-4245-8485-10836BF7E6E2}"/>
              </a:ext>
            </a:extLst>
          </p:cNvPr>
          <p:cNvSpPr>
            <a:spLocks noGrp="1"/>
          </p:cNvSpPr>
          <p:nvPr/>
        </p:nvSpPr>
        <p:spPr>
          <a:xfrm>
            <a:off x="552450" y="762000"/>
            <a:ext cx="809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软件工程过程与团队协作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268E890-66DB-49AD-8F95-07B0BD814E89}"/>
              </a:ext>
            </a:extLst>
          </p:cNvPr>
          <p:cNvSpPr>
            <a:spLocks noGrp="1"/>
          </p:cNvSpPr>
          <p:nvPr/>
        </p:nvSpPr>
        <p:spPr>
          <a:xfrm>
            <a:off x="571500" y="1200150"/>
            <a:ext cx="828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从需求、设计、TDD 到 GitHub PR 的过程可追溯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D608B73-7DC9-40B5-BC00-1C5C7E791F13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AegisMonitor 一体化监控平台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9634082-DBE3-42AC-A2E8-FA8F700BA99A}"/>
              </a:ext>
            </a:extLst>
          </p:cNvPr>
          <p:cNvSpPr>
            <a:spLocks noGrp="1"/>
          </p:cNvSpPr>
          <p:nvPr/>
        </p:nvSpPr>
        <p:spPr>
          <a:xfrm>
            <a:off x="876300" y="1695450"/>
            <a:ext cx="1428750" cy="914400"/>
          </a:xfrm>
          <a:prstGeom prst="roundRect">
            <a:avLst>
              <a:gd name="adj" fmla="val 10417"/>
            </a:avLst>
          </a:prstGeom>
          <a:solidFill>
            <a:srgbClr val="F8FBFF"/>
          </a:solidFill>
          <a:ln w="14288">
            <a:solidFill>
              <a:srgbClr val="004A9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76200" tIns="47625" rIns="76200" bIns="47625" anchor="ctr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  <a:p>
            <a:pPr algn="ctr">
              <a:lnSpc>
                <a:spcPct val="108000"/>
              </a:lnSpc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PRD</a:t>
            </a:r>
          </a:p>
          <a:p>
            <a:pPr algn="ctr">
              <a:lnSpc>
                <a:spcPct val="108000"/>
              </a:lnSpc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需求规格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BCFA94D-5154-4DE2-9F6E-581AF5FC0106}"/>
              </a:ext>
            </a:extLst>
          </p:cNvPr>
          <p:cNvSpPr>
            <a:spLocks noGrp="1"/>
          </p:cNvSpPr>
          <p:nvPr/>
        </p:nvSpPr>
        <p:spPr>
          <a:xfrm>
            <a:off x="3028950" y="1695450"/>
            <a:ext cx="1428750" cy="914400"/>
          </a:xfrm>
          <a:prstGeom prst="roundRect">
            <a:avLst>
              <a:gd name="adj" fmla="val 10417"/>
            </a:avLst>
          </a:prstGeom>
          <a:solidFill>
            <a:srgbClr val="FFFDF6"/>
          </a:solidFill>
          <a:ln w="14288">
            <a:solidFill>
              <a:srgbClr val="C89B3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76200" tIns="47625" rIns="76200" bIns="47625" anchor="ctr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  <a:p>
            <a:pPr algn="ctr">
              <a:lnSpc>
                <a:spcPct val="108000"/>
              </a:lnSpc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概要设计</a:t>
            </a:r>
          </a:p>
          <a:p>
            <a:pPr algn="ctr">
              <a:lnSpc>
                <a:spcPct val="108000"/>
              </a:lnSpc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接口 / 数据模型</a:t>
            </a:r>
          </a:p>
        </p:txBody>
      </p:sp>
      <p:cxnSp>
        <p:nvCxnSpPr>
          <p:cNvPr id="51" name="直接箭头连接符 35"/>
          <p:cNvCxnSpPr>
            <a:stCxn id="8" idx="1"/>
            <a:endCxn id="7" idx="3"/>
          </p:cNvCxnSpPr>
          <p:nvPr/>
        </p:nvCxnSpPr>
        <p:spPr>
          <a:xfrm flipH="1">
            <a:off x="2305050" y="2152650"/>
            <a:ext cx="723900" cy="0"/>
          </a:xfrm>
          <a:prstGeom prst="straightConnector1">
            <a:avLst/>
          </a:prstGeom>
          <a:ln w="19050">
            <a:solidFill>
              <a:srgbClr val="1B65B9"/>
            </a:solidFill>
            <a:prstDash val="solid"/>
            <a:headEnd type="arrow" w="med" len="med"/>
          </a:ln>
        </p:spPr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6377644-755D-4FAC-81B2-0B61ECB07BD2}"/>
              </a:ext>
            </a:extLst>
          </p:cNvPr>
          <p:cNvSpPr>
            <a:spLocks noGrp="1"/>
          </p:cNvSpPr>
          <p:nvPr/>
        </p:nvSpPr>
        <p:spPr>
          <a:xfrm>
            <a:off x="5181600" y="1695450"/>
            <a:ext cx="1428750" cy="914400"/>
          </a:xfrm>
          <a:prstGeom prst="roundRect">
            <a:avLst>
              <a:gd name="adj" fmla="val 10417"/>
            </a:avLst>
          </a:prstGeom>
          <a:solidFill>
            <a:srgbClr val="F8FBFF"/>
          </a:solidFill>
          <a:ln w="14288">
            <a:solidFill>
              <a:srgbClr val="004A9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76200" tIns="47625" rIns="76200" bIns="47625" anchor="ctr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实现</a:t>
            </a:r>
          </a:p>
          <a:p>
            <a:pPr algn="ctr">
              <a:lnSpc>
                <a:spcPct val="108000"/>
              </a:lnSpc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  <a:p>
            <a:pPr algn="ctr">
              <a:lnSpc>
                <a:spcPct val="108000"/>
              </a:lnSpc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后端</a:t>
            </a:r>
          </a:p>
          <a:p>
            <a:pPr algn="ctr">
              <a:lnSpc>
                <a:spcPct val="108000"/>
              </a:lnSpc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cxnSp>
        <p:nvCxnSpPr>
          <p:cNvPr id="53" name="直接箭头连接符 37"/>
          <p:cNvCxnSpPr>
            <a:stCxn id="10" idx="1"/>
            <a:endCxn id="8" idx="3"/>
          </p:cNvCxnSpPr>
          <p:nvPr/>
        </p:nvCxnSpPr>
        <p:spPr>
          <a:xfrm flipH="1">
            <a:off x="4457700" y="2152650"/>
            <a:ext cx="723900" cy="0"/>
          </a:xfrm>
          <a:prstGeom prst="straightConnector1">
            <a:avLst/>
          </a:prstGeom>
          <a:ln w="19050">
            <a:solidFill>
              <a:srgbClr val="1B65B9"/>
            </a:solidFill>
            <a:prstDash val="solid"/>
            <a:headEnd type="arrow" w="med" len="med"/>
          </a:ln>
        </p:spPr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F75E426-4A18-44B5-90B4-395AA4A00467}"/>
              </a:ext>
            </a:extLst>
          </p:cNvPr>
          <p:cNvSpPr>
            <a:spLocks noGrp="1"/>
          </p:cNvSpPr>
          <p:nvPr/>
        </p:nvSpPr>
        <p:spPr>
          <a:xfrm>
            <a:off x="7334250" y="1695450"/>
            <a:ext cx="1428750" cy="914400"/>
          </a:xfrm>
          <a:prstGeom prst="roundRect">
            <a:avLst>
              <a:gd name="adj" fmla="val 10417"/>
            </a:avLst>
          </a:prstGeom>
          <a:solidFill>
            <a:srgbClr val="FFFDF6"/>
          </a:solidFill>
          <a:ln w="14288">
            <a:solidFill>
              <a:srgbClr val="C89B3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76200" tIns="47625" rIns="76200" bIns="47625" anchor="ctr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  <a:p>
            <a:pPr algn="ctr">
              <a:lnSpc>
                <a:spcPct val="108000"/>
              </a:lnSpc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自动化测试</a:t>
            </a:r>
          </a:p>
          <a:p>
            <a:pPr algn="ctr">
              <a:lnSpc>
                <a:spcPct val="108000"/>
              </a:lnSpc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端到端截图</a:t>
            </a:r>
          </a:p>
        </p:txBody>
      </p:sp>
      <p:cxnSp>
        <p:nvCxnSpPr>
          <p:cNvPr id="55" name="直接箭头连接符 39"/>
          <p:cNvCxnSpPr>
            <a:stCxn id="12" idx="1"/>
            <a:endCxn id="10" idx="3"/>
          </p:cNvCxnSpPr>
          <p:nvPr/>
        </p:nvCxnSpPr>
        <p:spPr>
          <a:xfrm flipH="1">
            <a:off x="6610350" y="2152650"/>
            <a:ext cx="723900" cy="0"/>
          </a:xfrm>
          <a:prstGeom prst="straightConnector1">
            <a:avLst/>
          </a:prstGeom>
          <a:ln w="19050">
            <a:solidFill>
              <a:srgbClr val="1B65B9"/>
            </a:solidFill>
            <a:prstDash val="solid"/>
            <a:headEnd type="arrow" w="med" len="med"/>
          </a:ln>
        </p:spPr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A74B65D-1275-4B81-A815-6BFB0C7EC074}"/>
              </a:ext>
            </a:extLst>
          </p:cNvPr>
          <p:cNvSpPr>
            <a:spLocks noGrp="1"/>
          </p:cNvSpPr>
          <p:nvPr/>
        </p:nvSpPr>
        <p:spPr>
          <a:xfrm>
            <a:off x="9486900" y="1695450"/>
            <a:ext cx="1428750" cy="914400"/>
          </a:xfrm>
          <a:prstGeom prst="roundRect">
            <a:avLst>
              <a:gd name="adj" fmla="val 10417"/>
            </a:avLst>
          </a:prstGeom>
          <a:solidFill>
            <a:srgbClr val="F8FBFF"/>
          </a:solidFill>
          <a:ln w="14288">
            <a:solidFill>
              <a:srgbClr val="004A9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76200" tIns="47625" rIns="76200" bIns="47625" anchor="ctr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  <a:p>
            <a:pPr algn="ctr">
              <a:lnSpc>
                <a:spcPct val="108000"/>
              </a:lnSpc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答辩脚本</a:t>
            </a:r>
          </a:p>
          <a:p>
            <a:pPr algn="ctr">
              <a:lnSpc>
                <a:spcPct val="108000"/>
              </a:lnSpc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项目手册</a:t>
            </a:r>
          </a:p>
        </p:txBody>
      </p:sp>
      <p:cxnSp>
        <p:nvCxnSpPr>
          <p:cNvPr id="57" name="直接箭头连接符 41"/>
          <p:cNvCxnSpPr>
            <a:stCxn id="14" idx="1"/>
            <a:endCxn id="12" idx="3"/>
          </p:cNvCxnSpPr>
          <p:nvPr/>
        </p:nvCxnSpPr>
        <p:spPr>
          <a:xfrm flipH="1">
            <a:off x="8763000" y="2152650"/>
            <a:ext cx="723900" cy="0"/>
          </a:xfrm>
          <a:prstGeom prst="straightConnector1">
            <a:avLst/>
          </a:prstGeom>
          <a:ln w="19050">
            <a:solidFill>
              <a:srgbClr val="1B65B9"/>
            </a:solidFill>
            <a:prstDash val="solid"/>
            <a:headEnd type="arrow" w="med" len="med"/>
          </a:ln>
        </p:spPr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3F4F88B-8E6B-4096-AA8C-80F54C22C815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3143250" cy="156210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C9D6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C163421-9AFB-4555-984C-684A1000682F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66675" cy="1562100"/>
          </a:xfrm>
          <a:prstGeom prst="rect">
            <a:avLst/>
          </a:prstGeom>
          <a:solidFill>
            <a:srgbClr val="004A98"/>
          </a:solidFill>
          <a:ln w="0">
            <a:solidFill>
              <a:srgbClr val="004A9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59A607A-A65B-4BB0-BB2A-4A167225D722}"/>
              </a:ext>
            </a:extLst>
          </p:cNvPr>
          <p:cNvSpPr>
            <a:spLocks noGrp="1"/>
          </p:cNvSpPr>
          <p:nvPr/>
        </p:nvSpPr>
        <p:spPr>
          <a:xfrm>
            <a:off x="1047750" y="3448050"/>
            <a:ext cx="2724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GitHub 协作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48716BA-C17F-4A72-A2D0-D7F1C0B34258}"/>
              </a:ext>
            </a:extLst>
          </p:cNvPr>
          <p:cNvSpPr>
            <a:spLocks noGrp="1"/>
          </p:cNvSpPr>
          <p:nvPr/>
        </p:nvSpPr>
        <p:spPr>
          <a:xfrm>
            <a:off x="1066800" y="3829050"/>
            <a:ext cx="26860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0" rIns="28575" bIns="0"/>
          <a:lstStyle/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Issues 拆分四个队员任务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feature 分支提交 PR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Review 后合并到 master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README 更新为最终状态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5C47552-5874-4962-9734-958429F6A38B}"/>
              </a:ext>
            </a:extLst>
          </p:cNvPr>
          <p:cNvSpPr>
            <a:spLocks noGrp="1"/>
          </p:cNvSpPr>
          <p:nvPr/>
        </p:nvSpPr>
        <p:spPr>
          <a:xfrm>
            <a:off x="4514850" y="3295650"/>
            <a:ext cx="3143250" cy="156210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C9D6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BB48E40-B8E7-4BB5-8D38-43070C7CD74A}"/>
              </a:ext>
            </a:extLst>
          </p:cNvPr>
          <p:cNvSpPr>
            <a:spLocks noGrp="1"/>
          </p:cNvSpPr>
          <p:nvPr/>
        </p:nvSpPr>
        <p:spPr>
          <a:xfrm>
            <a:off x="4514850" y="3295650"/>
            <a:ext cx="66675" cy="1562100"/>
          </a:xfrm>
          <a:prstGeom prst="rect">
            <a:avLst/>
          </a:prstGeom>
          <a:solidFill>
            <a:srgbClr val="C89B3C"/>
          </a:solidFill>
          <a:ln w="0">
            <a:solidFill>
              <a:srgbClr val="C89B3C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7F8392D-E418-4D13-94FA-F18CBE0FEE87}"/>
              </a:ext>
            </a:extLst>
          </p:cNvPr>
          <p:cNvSpPr>
            <a:spLocks noGrp="1"/>
          </p:cNvSpPr>
          <p:nvPr/>
        </p:nvSpPr>
        <p:spPr>
          <a:xfrm>
            <a:off x="4724400" y="3448050"/>
            <a:ext cx="2724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文档体系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DC0C2EE-1066-4FDE-974E-91BE5D9E8C24}"/>
              </a:ext>
            </a:extLst>
          </p:cNvPr>
          <p:cNvSpPr>
            <a:spLocks noGrp="1"/>
          </p:cNvSpPr>
          <p:nvPr/>
        </p:nvSpPr>
        <p:spPr>
          <a:xfrm>
            <a:off x="4743450" y="3829050"/>
            <a:ext cx="26860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0" rIns="28575" bIns="0"/>
          <a:lstStyle/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00-项目决策记录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01-PRD / 02-需求规格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08-概要设计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09-接口原型 / 10-数据模型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17-测试记录 / 18-讲解手册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B6F02E9-7449-4C6B-8B71-5829B7ECB42C}"/>
              </a:ext>
            </a:extLst>
          </p:cNvPr>
          <p:cNvSpPr>
            <a:spLocks noGrp="1"/>
          </p:cNvSpPr>
          <p:nvPr/>
        </p:nvSpPr>
        <p:spPr>
          <a:xfrm>
            <a:off x="8191500" y="3295650"/>
            <a:ext cx="3143250" cy="156210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C9D6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6891FBE-E48A-4B4D-9398-B6CBF5369463}"/>
              </a:ext>
            </a:extLst>
          </p:cNvPr>
          <p:cNvSpPr>
            <a:spLocks noGrp="1"/>
          </p:cNvSpPr>
          <p:nvPr/>
        </p:nvSpPr>
        <p:spPr>
          <a:xfrm>
            <a:off x="8191500" y="3295650"/>
            <a:ext cx="66675" cy="1562100"/>
          </a:xfrm>
          <a:prstGeom prst="rect">
            <a:avLst/>
          </a:prstGeom>
          <a:solidFill>
            <a:srgbClr val="1C8C64"/>
          </a:solidFill>
          <a:ln w="0">
            <a:solidFill>
              <a:srgbClr val="1C8C64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31EEEF2-F147-4403-B3D0-1D406069A28A}"/>
              </a:ext>
            </a:extLst>
          </p:cNvPr>
          <p:cNvSpPr>
            <a:spLocks noGrp="1"/>
          </p:cNvSpPr>
          <p:nvPr/>
        </p:nvSpPr>
        <p:spPr>
          <a:xfrm>
            <a:off x="8401050" y="3448050"/>
            <a:ext cx="2724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五人展示分工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D884D27-50D3-40CD-BDC6-EF3A5D802575}"/>
              </a:ext>
            </a:extLst>
          </p:cNvPr>
          <p:cNvSpPr>
            <a:spLocks noGrp="1"/>
          </p:cNvSpPr>
          <p:nvPr/>
        </p:nvSpPr>
        <p:spPr>
          <a:xfrm>
            <a:off x="8420100" y="3829050"/>
            <a:ext cx="26860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0" rIns="28575" bIns="0"/>
          <a:lstStyle/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罗皓天</a:t>
            </a:r>
            <a:r>
              <a:rPr sz="1200" dirty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200" dirty="0" err="1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需求、架构、统筹</a:t>
            </a:r>
            <a:endParaRPr sz="1200" dirty="0">
              <a:solidFill>
                <a:srgbClr val="5D6B82"/>
              </a:solidFill>
              <a:latin typeface="Microsoft YaHei"/>
              <a:ea typeface="Microsoft YaHei"/>
              <a:cs typeface="Microsoft YaHei"/>
            </a:endParaRP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余润东</a:t>
            </a:r>
            <a:r>
              <a:rPr sz="1200" dirty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：Agent </a:t>
            </a:r>
            <a:r>
              <a:rPr sz="1200" dirty="0" err="1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与多机接入</a:t>
            </a:r>
            <a:endParaRPr sz="1200" dirty="0">
              <a:solidFill>
                <a:srgbClr val="5D6B82"/>
              </a:solidFill>
              <a:latin typeface="Microsoft YaHei"/>
              <a:ea typeface="Microsoft YaHei"/>
              <a:cs typeface="Microsoft YaHei"/>
            </a:endParaRP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王锦铨</a:t>
            </a:r>
            <a:r>
              <a:rPr sz="1200" dirty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200" dirty="0" err="1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前端展示</a:t>
            </a:r>
            <a:endParaRPr sz="1200" dirty="0">
              <a:solidFill>
                <a:srgbClr val="5D6B82"/>
              </a:solidFill>
              <a:latin typeface="Microsoft YaHei"/>
              <a:ea typeface="Microsoft YaHei"/>
              <a:cs typeface="Microsoft YaHei"/>
            </a:endParaRP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赖芸</a:t>
            </a:r>
            <a:r>
              <a:rPr sz="1200" dirty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：服务与告警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2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刘诗琪</a:t>
            </a:r>
            <a:r>
              <a:rPr sz="1200" dirty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：测试与文档</a:t>
            </a:r>
          </a:p>
        </p:txBody>
      </p:sp>
    </p:spTree>
    <p:extLst>
      <p:ext uri="{BB962C8B-B14F-4D97-AF65-F5344CB8AC3E}">
        <p14:creationId xmlns:p14="http://schemas.microsoft.com/office/powerpoint/2010/main" val="528485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09C4311C-0B93-436A-9763-C90612A4864C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软件工程课程设计</a:t>
            </a:r>
            <a:endParaRPr sz="1125" b="1" dirty="0">
              <a:solidFill>
                <a:srgbClr val="004A9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EDF50A0-C1EB-41B9-961A-13BC22A9768F}"/>
              </a:ext>
            </a:extLst>
          </p:cNvPr>
          <p:cNvSpPr>
            <a:spLocks noGrp="1"/>
          </p:cNvSpPr>
          <p:nvPr/>
        </p:nvSpPr>
        <p:spPr>
          <a:xfrm>
            <a:off x="11049000" y="22860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6BC04997-FA11-406D-868E-CBBAF9B776A9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1087100" cy="0"/>
          </a:xfrm>
          <a:prstGeom prst="line">
            <a:avLst/>
          </a:prstGeom>
          <a:noFill/>
          <a:ln w="11430">
            <a:solidFill>
              <a:srgbClr val="D7E2E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3BA3D4-1E26-437F-AF0C-8D91832B98D6}"/>
              </a:ext>
            </a:extLst>
          </p:cNvPr>
          <p:cNvSpPr>
            <a:spLocks noGrp="1"/>
          </p:cNvSpPr>
          <p:nvPr/>
        </p:nvSpPr>
        <p:spPr>
          <a:xfrm>
            <a:off x="552450" y="762000"/>
            <a:ext cx="809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项目边界与后续扩展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3D01DB-8702-4FC6-8B96-C102FDECB0C5}"/>
              </a:ext>
            </a:extLst>
          </p:cNvPr>
          <p:cNvSpPr>
            <a:spLocks noGrp="1"/>
          </p:cNvSpPr>
          <p:nvPr/>
        </p:nvSpPr>
        <p:spPr>
          <a:xfrm>
            <a:off x="571500" y="1200150"/>
            <a:ext cx="828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当前版本完成课程设计核心闭环，保留企业级演进方向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47CDD2A-CFB5-4073-91BC-3F678BB20632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AegisMonitor 一体化监控平台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2AC7D79-D5DD-4F65-B8E3-F4F00F86B070}"/>
              </a:ext>
            </a:extLst>
          </p:cNvPr>
          <p:cNvSpPr>
            <a:spLocks noGrp="1"/>
          </p:cNvSpPr>
          <p:nvPr/>
        </p:nvSpPr>
        <p:spPr>
          <a:xfrm>
            <a:off x="933450" y="1657350"/>
            <a:ext cx="4476750" cy="302895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C9D6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05B5301-3E67-4D39-A6B3-09315056A719}"/>
              </a:ext>
            </a:extLst>
          </p:cNvPr>
          <p:cNvSpPr>
            <a:spLocks noGrp="1"/>
          </p:cNvSpPr>
          <p:nvPr/>
        </p:nvSpPr>
        <p:spPr>
          <a:xfrm>
            <a:off x="933450" y="1657350"/>
            <a:ext cx="66675" cy="3028950"/>
          </a:xfrm>
          <a:prstGeom prst="rect">
            <a:avLst/>
          </a:prstGeom>
          <a:solidFill>
            <a:srgbClr val="1C8C64"/>
          </a:solidFill>
          <a:ln w="0">
            <a:solidFill>
              <a:srgbClr val="1C8C64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D0477CD-1C01-44D3-BCC2-C2051B388206}"/>
              </a:ext>
            </a:extLst>
          </p:cNvPr>
          <p:cNvSpPr>
            <a:spLocks noGrp="1"/>
          </p:cNvSpPr>
          <p:nvPr/>
        </p:nvSpPr>
        <p:spPr>
          <a:xfrm>
            <a:off x="1143000" y="1809750"/>
            <a:ext cx="4057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当前已完成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6BD3866-A1DC-47F2-9419-628C973E3B10}"/>
              </a:ext>
            </a:extLst>
          </p:cNvPr>
          <p:cNvSpPr>
            <a:spLocks noGrp="1"/>
          </p:cNvSpPr>
          <p:nvPr/>
        </p:nvSpPr>
        <p:spPr>
          <a:xfrm>
            <a:off x="1162050" y="2190750"/>
            <a:ext cx="4019550" cy="2400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0" rIns="28575" bIns="0"/>
          <a:lstStyle/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42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真实 Agent 注册、心跳和上报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42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CPU/内存/磁盘/网卡/TCP 曲线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42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服务组件识别与资源展示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42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告警生成、去重与 ACK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42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离线判断与 Agent 重试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42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MySQL 持久化与自动化测试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6FCE23C-DE21-44A1-8F1E-81A1B474CC6A}"/>
              </a:ext>
            </a:extLst>
          </p:cNvPr>
          <p:cNvSpPr>
            <a:spLocks noGrp="1"/>
          </p:cNvSpPr>
          <p:nvPr/>
        </p:nvSpPr>
        <p:spPr>
          <a:xfrm>
            <a:off x="6781800" y="1657350"/>
            <a:ext cx="4476750" cy="302895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C9D6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55CA714-0EFD-43E8-B5BB-0AB9D939718C}"/>
              </a:ext>
            </a:extLst>
          </p:cNvPr>
          <p:cNvSpPr>
            <a:spLocks noGrp="1"/>
          </p:cNvSpPr>
          <p:nvPr/>
        </p:nvSpPr>
        <p:spPr>
          <a:xfrm>
            <a:off x="6781800" y="1657350"/>
            <a:ext cx="66675" cy="3028950"/>
          </a:xfrm>
          <a:prstGeom prst="rect">
            <a:avLst/>
          </a:prstGeom>
          <a:solidFill>
            <a:srgbClr val="C89B3C"/>
          </a:solidFill>
          <a:ln w="0">
            <a:solidFill>
              <a:srgbClr val="C89B3C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4EBE69-BC00-4B31-9040-6FEC6DE28E53}"/>
              </a:ext>
            </a:extLst>
          </p:cNvPr>
          <p:cNvSpPr>
            <a:spLocks noGrp="1"/>
          </p:cNvSpPr>
          <p:nvPr/>
        </p:nvSpPr>
        <p:spPr>
          <a:xfrm>
            <a:off x="6991350" y="1809750"/>
            <a:ext cx="4057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后续扩展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FBA0033-6B2A-4058-84D3-EFFE81FD56C9}"/>
              </a:ext>
            </a:extLst>
          </p:cNvPr>
          <p:cNvSpPr>
            <a:spLocks noGrp="1"/>
          </p:cNvSpPr>
          <p:nvPr/>
        </p:nvSpPr>
        <p:spPr>
          <a:xfrm>
            <a:off x="7010400" y="2190750"/>
            <a:ext cx="4019550" cy="2400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0" rIns="28575" bIns="0"/>
          <a:lstStyle/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42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登录与 RBAC 权限隔离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42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告警规则编辑与通知渠道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42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告警恢复检测和 CLOSED 状态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42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InfluxDB / Prometheus 时序存储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42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服务拓扑与调用链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42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Docker Compose / 云服务器部署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67AC23E-1F30-4837-BCB5-8322E0FC43AD}"/>
              </a:ext>
            </a:extLst>
          </p:cNvPr>
          <p:cNvSpPr>
            <a:spLocks noGrp="1"/>
          </p:cNvSpPr>
          <p:nvPr/>
        </p:nvSpPr>
        <p:spPr>
          <a:xfrm>
            <a:off x="1143000" y="52768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取舍原则：优先保证主链路稳定、演示真实、文档完整；企业级能力在设计中保留扩展入口。</a:t>
            </a:r>
          </a:p>
        </p:txBody>
      </p:sp>
    </p:spTree>
    <p:extLst>
      <p:ext uri="{BB962C8B-B14F-4D97-AF65-F5344CB8AC3E}">
        <p14:creationId xmlns:p14="http://schemas.microsoft.com/office/powerpoint/2010/main" val="553694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D5174DB-868E-452A-9B6E-2887E26B75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 w="0">
            <a:solidFill>
              <a:srgbClr val="F7FAFE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1C0013-5E2A-45EB-9C92-43A632298A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rgbClr val="004A98"/>
          </a:solidFill>
          <a:ln w="0">
            <a:solidFill>
              <a:srgbClr val="004A98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1676520-1299-44C3-ACB5-B0A21F1A87B7}"/>
              </a:ext>
            </a:extLst>
          </p:cNvPr>
          <p:cNvSpPr>
            <a:spLocks noGrp="1"/>
          </p:cNvSpPr>
          <p:nvPr/>
        </p:nvSpPr>
        <p:spPr>
          <a:xfrm>
            <a:off x="723900" y="247650"/>
            <a:ext cx="495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总结与答辩交流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A73D8C-C7E8-4935-8ECF-CC0C6CDF836C}"/>
              </a:ext>
            </a:extLst>
          </p:cNvPr>
          <p:cNvSpPr>
            <a:spLocks noGrp="1"/>
          </p:cNvSpPr>
          <p:nvPr/>
        </p:nvSpPr>
        <p:spPr>
          <a:xfrm>
            <a:off x="857250" y="1428750"/>
            <a:ext cx="914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23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AegisMonitor 完成了课程设计范围内的一体化监控平台核心闭环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D42E7CE-72B0-4907-B07C-7C0C2B8C89F5}"/>
              </a:ext>
            </a:extLst>
          </p:cNvPr>
          <p:cNvSpPr>
            <a:spLocks noGrp="1"/>
          </p:cNvSpPr>
          <p:nvPr/>
        </p:nvSpPr>
        <p:spPr>
          <a:xfrm>
            <a:off x="895350" y="2381250"/>
            <a:ext cx="30480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9D6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BAE8FF-CAB8-4E1E-BC50-523BE21F6453}"/>
              </a:ext>
            </a:extLst>
          </p:cNvPr>
          <p:cNvSpPr>
            <a:spLocks noGrp="1"/>
          </p:cNvSpPr>
          <p:nvPr/>
        </p:nvSpPr>
        <p:spPr>
          <a:xfrm>
            <a:off x="895350" y="2381250"/>
            <a:ext cx="66675" cy="1714500"/>
          </a:xfrm>
          <a:prstGeom prst="rect">
            <a:avLst/>
          </a:prstGeom>
          <a:solidFill>
            <a:srgbClr val="004A98"/>
          </a:solidFill>
          <a:ln w="0">
            <a:solidFill>
              <a:srgbClr val="004A98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FE9EFC-FCF9-4638-98E9-6E39129BE8AF}"/>
              </a:ext>
            </a:extLst>
          </p:cNvPr>
          <p:cNvSpPr>
            <a:spLocks noGrp="1"/>
          </p:cNvSpPr>
          <p:nvPr/>
        </p:nvSpPr>
        <p:spPr>
          <a:xfrm>
            <a:off x="1104900" y="2533650"/>
            <a:ext cx="2628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真实接入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AE84BF0-F75F-4ACE-9099-B329979817AF}"/>
              </a:ext>
            </a:extLst>
          </p:cNvPr>
          <p:cNvSpPr>
            <a:spLocks noGrp="1"/>
          </p:cNvSpPr>
          <p:nvPr/>
        </p:nvSpPr>
        <p:spPr>
          <a:xfrm>
            <a:off x="1123950" y="2914650"/>
            <a:ext cx="25908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0" rIns="28575" bIns="0"/>
          <a:lstStyle/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Windows Agent 可接入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心跳和指标持续上报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支持多真实主机演示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08704C0-CF7E-416B-9B3B-13B531FB3D6B}"/>
              </a:ext>
            </a:extLst>
          </p:cNvPr>
          <p:cNvSpPr>
            <a:spLocks noGrp="1"/>
          </p:cNvSpPr>
          <p:nvPr/>
        </p:nvSpPr>
        <p:spPr>
          <a:xfrm>
            <a:off x="4572000" y="2381250"/>
            <a:ext cx="30480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9D6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D5F62D-9AB5-47AD-A55C-CA5AD828D53B}"/>
              </a:ext>
            </a:extLst>
          </p:cNvPr>
          <p:cNvSpPr>
            <a:spLocks noGrp="1"/>
          </p:cNvSpPr>
          <p:nvPr/>
        </p:nvSpPr>
        <p:spPr>
          <a:xfrm>
            <a:off x="4572000" y="2381250"/>
            <a:ext cx="66675" cy="1714500"/>
          </a:xfrm>
          <a:prstGeom prst="rect">
            <a:avLst/>
          </a:prstGeom>
          <a:solidFill>
            <a:srgbClr val="1C8C64"/>
          </a:solidFill>
          <a:ln w="0">
            <a:solidFill>
              <a:srgbClr val="1C8C64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77BAC4C-D053-4084-9B31-7E766E59DBB8}"/>
              </a:ext>
            </a:extLst>
          </p:cNvPr>
          <p:cNvSpPr>
            <a:spLocks noGrp="1"/>
          </p:cNvSpPr>
          <p:nvPr/>
        </p:nvSpPr>
        <p:spPr>
          <a:xfrm>
            <a:off x="4781550" y="2533650"/>
            <a:ext cx="2628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完整闭环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D929937-D30B-43FB-8743-A091B8325E9C}"/>
              </a:ext>
            </a:extLst>
          </p:cNvPr>
          <p:cNvSpPr>
            <a:spLocks noGrp="1"/>
          </p:cNvSpPr>
          <p:nvPr/>
        </p:nvSpPr>
        <p:spPr>
          <a:xfrm>
            <a:off x="4800600" y="2914650"/>
            <a:ext cx="25908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0" rIns="28575" bIns="0"/>
          <a:lstStyle/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MySQL 保存数据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前端展示历史趋势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告警 OPEN -&gt; ACKED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DB9DEAF-7833-4193-AAC7-9B32EFE320AC}"/>
              </a:ext>
            </a:extLst>
          </p:cNvPr>
          <p:cNvSpPr>
            <a:spLocks noGrp="1"/>
          </p:cNvSpPr>
          <p:nvPr/>
        </p:nvSpPr>
        <p:spPr>
          <a:xfrm>
            <a:off x="8248650" y="2381250"/>
            <a:ext cx="30480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9D6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6BA42D5-0E7D-4405-93E2-89BF4E47BF19}"/>
              </a:ext>
            </a:extLst>
          </p:cNvPr>
          <p:cNvSpPr>
            <a:spLocks noGrp="1"/>
          </p:cNvSpPr>
          <p:nvPr/>
        </p:nvSpPr>
        <p:spPr>
          <a:xfrm>
            <a:off x="8248650" y="2381250"/>
            <a:ext cx="66675" cy="1714500"/>
          </a:xfrm>
          <a:prstGeom prst="rect">
            <a:avLst/>
          </a:prstGeom>
          <a:solidFill>
            <a:srgbClr val="C89B3C"/>
          </a:solidFill>
          <a:ln w="0">
            <a:solidFill>
              <a:srgbClr val="C89B3C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8422FFD-D8AC-4699-B0A4-6CA631C7AECA}"/>
              </a:ext>
            </a:extLst>
          </p:cNvPr>
          <p:cNvSpPr>
            <a:spLocks noGrp="1"/>
          </p:cNvSpPr>
          <p:nvPr/>
        </p:nvSpPr>
        <p:spPr>
          <a:xfrm>
            <a:off x="8458200" y="2533650"/>
            <a:ext cx="2628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工程证明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7EBB100-CDB4-4C12-B35B-7F8139C4D662}"/>
              </a:ext>
            </a:extLst>
          </p:cNvPr>
          <p:cNvSpPr>
            <a:spLocks noGrp="1"/>
          </p:cNvSpPr>
          <p:nvPr/>
        </p:nvSpPr>
        <p:spPr>
          <a:xfrm>
            <a:off x="8477250" y="2914650"/>
            <a:ext cx="25908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0" rIns="28575" bIns="0"/>
          <a:lstStyle/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69 项自动化测试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验收截图记录</a:t>
            </a:r>
          </a:p>
          <a:p>
            <a:pPr marL="20" indent="-10">
              <a:lnSpc>
                <a:spcPct val="114000"/>
              </a:lnSpc>
              <a:spcAft>
                <a:spcPts val="4"/>
              </a:spcAft>
              <a:buNone/>
              <a:def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GitHub Issues / PR 协作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5949566-81C5-4DD3-A671-F683758AB704}"/>
              </a:ext>
            </a:extLst>
          </p:cNvPr>
          <p:cNvSpPr>
            <a:spLocks noGrp="1"/>
          </p:cNvSpPr>
          <p:nvPr/>
        </p:nvSpPr>
        <p:spPr>
          <a:xfrm>
            <a:off x="3581400" y="5029200"/>
            <a:ext cx="5029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ctr">
              <a:lnSpc>
                <a:spcPct val="112000"/>
              </a:lnSpc>
              <a:buNone/>
              <a:defRPr sz="315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4A98"/>
                </a:solidFill>
                <a:latin typeface="Microsoft YaHei"/>
                <a:ea typeface="Microsoft YaHei"/>
                <a:cs typeface="Microsoft YaHei"/>
              </a:rPr>
              <a:t>谢谢各位老师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B6C7DC6-B33D-4B77-A85E-18897ABF61F9}"/>
              </a:ext>
            </a:extLst>
          </p:cNvPr>
          <p:cNvSpPr>
            <a:spLocks noGrp="1"/>
          </p:cNvSpPr>
          <p:nvPr/>
        </p:nvSpPr>
        <p:spPr>
          <a:xfrm>
            <a:off x="4381500" y="56578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/>
          <a:lstStyle/>
          <a:p>
            <a:pPr algn="ctr">
              <a:lnSpc>
                <a:spcPct val="112000"/>
              </a:lnSpc>
              <a:buNone/>
              <a:defRPr sz="18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6B82"/>
                </a:solidFill>
                <a:latin typeface="Microsoft YaHei"/>
                <a:ea typeface="Microsoft YaHei"/>
                <a:cs typeface="Microsoft YaHei"/>
              </a:rPr>
              <a:t>欢迎批评指正</a:t>
            </a:r>
          </a:p>
        </p:txBody>
      </p:sp>
    </p:spTree>
    <p:extLst>
      <p:ext uri="{BB962C8B-B14F-4D97-AF65-F5344CB8AC3E}">
        <p14:creationId xmlns:p14="http://schemas.microsoft.com/office/powerpoint/2010/main" val="763242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SCUT Academic Blue">
      <a:dk1>
        <a:srgbClr val="000000"/>
      </a:dk1>
      <a:lt1>
        <a:srgbClr val="FFFFFF"/>
      </a:lt1>
      <a:dk2>
        <a:srgbClr val="1E293B"/>
      </a:dk2>
      <a:lt2>
        <a:srgbClr val="E2E8F0"/>
      </a:lt2>
      <a:accent1>
        <a:srgbClr val="004A98"/>
      </a:accent1>
      <a:accent2>
        <a:srgbClr val="C89B3C"/>
      </a:accent2>
      <a:accent3>
        <a:srgbClr val="1C8C64"/>
      </a:accent3>
      <a:accent4>
        <a:srgbClr val="B3262E"/>
      </a:accent4>
      <a:accent5>
        <a:srgbClr val="1B65B9"/>
      </a:accent5>
      <a:accent6>
        <a:srgbClr val="6B7280"/>
      </a:accent6>
      <a:hlink>
        <a:srgbClr val="1B65B9"/>
      </a:hlink>
      <a:folHlink>
        <a:srgbClr val="6D28D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CUT Academic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SCUT Academic Blue">
      <a:dk1>
        <a:srgbClr val="000000"/>
      </a:dk1>
      <a:lt1>
        <a:srgbClr val="FFFFFF"/>
      </a:lt1>
      <a:dk2>
        <a:srgbClr val="1E293B"/>
      </a:dk2>
      <a:lt2>
        <a:srgbClr val="E2E8F0"/>
      </a:lt2>
      <a:accent1>
        <a:srgbClr val="004A98"/>
      </a:accent1>
      <a:accent2>
        <a:srgbClr val="C89B3C"/>
      </a:accent2>
      <a:accent3>
        <a:srgbClr val="1C8C64"/>
      </a:accent3>
      <a:accent4>
        <a:srgbClr val="B3262E"/>
      </a:accent4>
      <a:accent5>
        <a:srgbClr val="1B65B9"/>
      </a:accent5>
      <a:accent6>
        <a:srgbClr val="6B7280"/>
      </a:accent6>
      <a:hlink>
        <a:srgbClr val="1B65B9"/>
      </a:hlink>
      <a:folHlink>
        <a:srgbClr val="6D28D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CUT Academic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1404</Words>
  <Application>Microsoft Office PowerPoint</Application>
  <DocSecurity>0</DocSecurity>
  <PresentationFormat>宽屏</PresentationFormat>
  <Paragraphs>322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QIXing7 QIXing7</cp:lastModifiedBy>
  <cp:revision>3</cp:revision>
  <dcterms:created xsi:type="dcterms:W3CDTF">2026-06-27T10:42:20Z</dcterms:created>
  <dcterms:modified xsi:type="dcterms:W3CDTF">2026-06-27T13:04:42Z</dcterms:modified>
</cp:coreProperties>
</file>